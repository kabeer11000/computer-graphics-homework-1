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3"/>
  </p:notesMasterIdLst>
  <p:sldIdLst>
    <p:sldId id="259" r:id="rId2"/>
    <p:sldId id="260" r:id="rId3"/>
    <p:sldId id="331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8C213-836A-436A-9305-3674F297930D}" v="7" dt="2026-04-20T07:12:45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31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35C6B-9CE8-4A17-9DF9-677D268CDB0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CE74B-62E3-459E-9BCB-5EFC988B6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22F342-7191-4188-8BCB-6F641BCCA9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47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55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EE13-E7AC-4C47-B56C-372B71562AF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6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3240-5FB7-46C6-9266-2CF90F107CC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02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8008-5B06-4453-BFA1-6C240E9B9608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3F27-D3E4-46EA-A360-51F7CA3365D9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7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6AA3-AA26-4467-A4E1-987C79C7D4ED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8BF3-AD4D-4AB0-9881-B7B8561B392F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8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DCE225B-104C-4B87-964F-1F99C7E6C360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3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8AE-799F-4599-B5D0-80579B251FFF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87AFB-53C8-4F44-B9C0-0736AAE5FC3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4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E9CC-9323-4BD4-ADDA-C860C560F5F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36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791-ECCE-BF65-0BD1-A4B89F019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BEA26-57C4-7F21-1944-1BA6C3C3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ADE5-C55E-444E-A489-3DC4C5EFF64D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B8480-C891-4BC6-2FC5-94E2C732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557FA-D8C3-E013-9A3E-4E940384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4C6BCCB-6B2B-DDDE-EF16-0D8F40A3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600" b="1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72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6F23B07-B5F7-4C98-888E-419C0F9847EC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5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50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uhoelzle/status/1263333283107991558" TargetMode="External"/><Relationship Id="rId2" Type="http://schemas.openxmlformats.org/officeDocument/2006/relationships/hyperlink" Target="https://slate.com/technology/2014/08/shark-attacks-threaten-google-s-undersea-internet-cables-video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sz="675" dirty="0">
                <a:latin typeface="Calibri" panose="020F0502020204030204"/>
              </a:rPr>
              <a:t>M. Zain Uddin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2A571446-35F1-4CD5-8066-69BB6D4AC6EC}" type="slidenum">
              <a:rPr lang="en-US" sz="788">
                <a:latin typeface="Calibri" panose="020F0502020204030204"/>
              </a:rPr>
              <a:pPr defTabSz="685800">
                <a:defRPr/>
              </a:pPr>
              <a:t>1</a:t>
            </a:fld>
            <a:endParaRPr lang="en-US" sz="788">
              <a:latin typeface="Calibri" panose="020F0502020204030204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434703" y="2265589"/>
            <a:ext cx="6274594" cy="127396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folHlink"/>
                </a:solidFill>
              </a:rPr>
              <a:t>Lecture # 10</a:t>
            </a:r>
            <a:br>
              <a:rPr lang="en-US" sz="2700" b="1" dirty="0">
                <a:solidFill>
                  <a:schemeClr val="folHlink"/>
                </a:solidFill>
              </a:rPr>
            </a:br>
            <a:br>
              <a:rPr lang="en-US" sz="2700" b="1" dirty="0">
                <a:solidFill>
                  <a:schemeClr val="folHlink"/>
                </a:solidFill>
              </a:rPr>
            </a:br>
            <a:endParaRPr lang="en-US" sz="2700" b="1" dirty="0">
              <a:solidFill>
                <a:schemeClr val="folHlink"/>
              </a:solidFill>
            </a:endParaRP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2000250" y="3943350"/>
            <a:ext cx="51435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By: Muhammad Zain Uddin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email: zuddin@iba.edu.pk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BE0B-CECF-DA50-E497-4018C02F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29C5-F8DA-85A2-9D7F-13A4144A1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Today’s lecture is based on lecture on Martin </a:t>
            </a:r>
            <a:r>
              <a:rPr lang="en-US" dirty="0" err="1"/>
              <a:t>Kleppmann’s</a:t>
            </a:r>
            <a:r>
              <a:rPr lang="en-US" dirty="0"/>
              <a:t> Distributed System Lecture Series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912EF-573F-8AF3-8525-E6C7C5E9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F61B2-C9F9-12CA-BD55-FE6141E0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6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ABEA-B6E0-9AF1-EE65-0841718D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D9F-09B6-DB23-F5ED-0F1316E9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65A94-D19B-F8FA-F24D-A5E75AD4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Distributed Computing (or Systems)</a:t>
            </a:r>
          </a:p>
          <a:p>
            <a:pPr lvl="1"/>
            <a:r>
              <a:rPr lang="en-US" dirty="0"/>
              <a:t>Why make a system distributed? Why not?</a:t>
            </a:r>
          </a:p>
          <a:p>
            <a:r>
              <a:rPr lang="en-US" dirty="0"/>
              <a:t>Latency and Bandwidth</a:t>
            </a:r>
          </a:p>
          <a:p>
            <a:r>
              <a:rPr lang="en-US" dirty="0"/>
              <a:t>Remote Procedure Call (RPC)</a:t>
            </a:r>
          </a:p>
          <a:p>
            <a:r>
              <a:rPr lang="en-US" dirty="0"/>
              <a:t>Model of Distributed Systems</a:t>
            </a:r>
          </a:p>
          <a:p>
            <a:pPr lvl="1"/>
            <a:r>
              <a:rPr lang="en-US" dirty="0"/>
              <a:t>Two generals problem</a:t>
            </a:r>
          </a:p>
          <a:p>
            <a:pPr lvl="1"/>
            <a:r>
              <a:rPr lang="en-US" dirty="0"/>
              <a:t>Byzantine generals problem</a:t>
            </a:r>
          </a:p>
          <a:p>
            <a:r>
              <a:rPr lang="en-US"/>
              <a:t>System Model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0FA2F-A4C9-FC2A-A503-773A8959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3218B-2EE8-14EB-6C29-22BD556C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7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6372-F043-B619-9648-9B1B7672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distributed system is.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4F3A-D3DA-CC4C-BF26-3223BAA5A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“. . . a system in which the failure of a computer you didn’t even know existed can render your own computer unusable.” — Leslie </a:t>
            </a:r>
            <a:r>
              <a:rPr lang="en-US" dirty="0" err="1"/>
              <a:t>Lamport</a:t>
            </a:r>
            <a:endParaRPr lang="en-US" dirty="0"/>
          </a:p>
          <a:p>
            <a:r>
              <a:rPr lang="en-US" dirty="0"/>
              <a:t>multiple computers communicating via a network</a:t>
            </a:r>
          </a:p>
          <a:p>
            <a:r>
              <a:rPr lang="en-US" dirty="0"/>
              <a:t> trying to achieve some task together</a:t>
            </a:r>
          </a:p>
          <a:p>
            <a:r>
              <a:rPr lang="en-US" dirty="0"/>
              <a:t>Consists of “nodes” (computer, phone, car, robot, . . . 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A0868-CD11-9BF4-7A2E-CC702175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80FEA-AC8F-3E32-98E7-9A59584E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6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2C4A-4AFA-054C-5EC5-FB9B7552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make a system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6B45-27FD-3FD5-C626-4BDCDE7B5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inherently distributed:</a:t>
            </a:r>
          </a:p>
          <a:p>
            <a:pPr lvl="1"/>
            <a:r>
              <a:rPr lang="en-US" dirty="0"/>
              <a:t>e.g. sending a message from your mobile phone to your friend’s phone</a:t>
            </a:r>
          </a:p>
          <a:p>
            <a:r>
              <a:rPr lang="en-US" dirty="0"/>
              <a:t>For better reliability:</a:t>
            </a:r>
          </a:p>
          <a:p>
            <a:pPr lvl="1"/>
            <a:r>
              <a:rPr lang="en-US" dirty="0"/>
              <a:t>even if one node fails, the system as a whole keeps functioning</a:t>
            </a:r>
          </a:p>
          <a:p>
            <a:r>
              <a:rPr lang="en-US" dirty="0"/>
              <a:t>For better performance:</a:t>
            </a:r>
          </a:p>
          <a:p>
            <a:pPr lvl="1"/>
            <a:r>
              <a:rPr lang="en-US" dirty="0"/>
              <a:t>get data from a nearby node rather than one halfway round the world</a:t>
            </a:r>
          </a:p>
          <a:p>
            <a:r>
              <a:rPr lang="en-US" dirty="0"/>
              <a:t>To solve bigger problems:</a:t>
            </a:r>
          </a:p>
          <a:p>
            <a:pPr lvl="1"/>
            <a:r>
              <a:rPr lang="en-US" dirty="0"/>
              <a:t>e.g. huge amounts of data, can’t fit on one machine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B96B5-DADA-680B-E80B-587CAF24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1F4A8-7D25-D221-3F83-90A1CADA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1A23-3BCF-57B5-3082-A2B736CB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make a system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FEB-8320-9442-268C-D602F6DC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trouble with distributed systems:</a:t>
            </a:r>
          </a:p>
          <a:p>
            <a:pPr lvl="1"/>
            <a:r>
              <a:rPr lang="en-US" dirty="0"/>
              <a:t>Communication may fail (and we might not even know it has failed)</a:t>
            </a:r>
          </a:p>
          <a:p>
            <a:pPr lvl="1"/>
            <a:r>
              <a:rPr lang="en-US" dirty="0"/>
              <a:t>Processes may crash (and we might not know)</a:t>
            </a:r>
          </a:p>
          <a:p>
            <a:pPr lvl="1"/>
            <a:r>
              <a:rPr lang="en-US" dirty="0"/>
              <a:t>All of this may happen non-deterministically.</a:t>
            </a:r>
          </a:p>
          <a:p>
            <a:pPr lvl="1"/>
            <a:endParaRPr lang="en-US" dirty="0"/>
          </a:p>
          <a:p>
            <a:r>
              <a:rPr lang="en-US" dirty="0"/>
              <a:t>Fault tolerance: we want the system as a whole to continue working, even when some parts are faulty. </a:t>
            </a:r>
          </a:p>
          <a:p>
            <a:pPr lvl="1"/>
            <a:r>
              <a:rPr lang="en-US" dirty="0"/>
              <a:t>This is hard.</a:t>
            </a:r>
          </a:p>
          <a:p>
            <a:pPr lvl="1"/>
            <a:r>
              <a:rPr lang="en-US" dirty="0"/>
              <a:t>Writing a program to run on a single computer is comparatively easy?!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274EE-2CD4-A5C9-D145-799B174C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F1CE4-75C6-C4D1-BA1F-B0A6BEB0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1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9B65-F9F7-7403-CA2D-C9E8E3B5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 and Computer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1508D-1C29-8464-A02A-61EA9244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a simple abstraction of communication: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Reality is much more complex:</a:t>
            </a:r>
          </a:p>
          <a:p>
            <a:pPr lvl="1"/>
            <a:r>
              <a:rPr lang="en-US" dirty="0"/>
              <a:t>Various network operators: </a:t>
            </a:r>
            <a:r>
              <a:rPr lang="en-US" dirty="0" err="1"/>
              <a:t>eduroam</a:t>
            </a:r>
            <a:r>
              <a:rPr lang="en-US" dirty="0"/>
              <a:t>, home DSL, cellular data, coffee shop </a:t>
            </a:r>
            <a:r>
              <a:rPr lang="en-US" dirty="0" err="1"/>
              <a:t>wifi</a:t>
            </a:r>
            <a:r>
              <a:rPr lang="en-US" dirty="0"/>
              <a:t>, submarine cable, satellite. . .</a:t>
            </a:r>
          </a:p>
          <a:p>
            <a:pPr lvl="1"/>
            <a:r>
              <a:rPr lang="en-US" dirty="0"/>
              <a:t>Physical communication: electric current, radio waves, laser, hard drives in a van. .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7F501-A117-B9C8-FD11-3DA4C380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79CD7-99CC-B2B0-0836-36B6BF6C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989172-0E09-1051-EBAF-C957C481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65" y="2400156"/>
            <a:ext cx="4258269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0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6DBA-4769-166F-FA87-CDA32408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and 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3B13-1F79-487B-8F03-B51B87A16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Latency</a:t>
            </a:r>
            <a:r>
              <a:rPr lang="en-US" dirty="0"/>
              <a:t>: time until message arrives</a:t>
            </a:r>
          </a:p>
          <a:p>
            <a:r>
              <a:rPr lang="en-US" dirty="0"/>
              <a:t>In the same building/datacenter: ≈ 1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One continent to another: ≈ 100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Hard drives in a van: ≈ 1 day</a:t>
            </a:r>
          </a:p>
          <a:p>
            <a:pPr marL="0" indent="0">
              <a:buNone/>
            </a:pPr>
            <a:r>
              <a:rPr lang="en-US" b="1" dirty="0"/>
              <a:t>Bandwidth</a:t>
            </a:r>
            <a:r>
              <a:rPr lang="en-US" dirty="0"/>
              <a:t>: data volume per unit time</a:t>
            </a:r>
          </a:p>
          <a:p>
            <a:r>
              <a:rPr lang="en-US" dirty="0"/>
              <a:t>3G cellular data: ≈ 1 Mbit/s</a:t>
            </a:r>
          </a:p>
          <a:p>
            <a:r>
              <a:rPr lang="en-US" dirty="0"/>
              <a:t>Home broadband: ≈ 10 Mbit/s</a:t>
            </a:r>
          </a:p>
          <a:p>
            <a:r>
              <a:rPr lang="en-US" dirty="0"/>
              <a:t>Hard drives in a van: 50 TB/box ≈ 1 Gbit/s</a:t>
            </a:r>
          </a:p>
          <a:p>
            <a:r>
              <a:rPr lang="en-US" dirty="0"/>
              <a:t>(Very rough numbers, vary hugely in practice!)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8214A-326E-0722-FF05-7D034BCC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E3850-346D-9AA2-02CF-A9E5F4A2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12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D7BD-E7F3-4AE8-40DC-4156C06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example: the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BF84-F55D-72B6-5D0E-8A8317D6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 flows from top to bottom.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10E25-2B59-595E-F851-0A9C4956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2E214-8B9B-4D78-19BE-348302A3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39096-6459-2766-CD55-F06F64BC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4" y="2545143"/>
            <a:ext cx="6943352" cy="2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9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CC78-C91C-5020-12CE-497353B5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example: online payments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0FBB84-628B-F0BF-E17D-C915351D1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260" y="2082298"/>
            <a:ext cx="6201479" cy="269340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E2230-E89B-AAEB-3CC0-3D867238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3DFF0-A50D-B9D2-2DD9-481B13A9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6E5F-901F-3BAF-6BF1-BEA5D1AD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 (RPC)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8DF83B-B0A9-A4C9-43A7-F6C010BE7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042" y="1846263"/>
            <a:ext cx="6584365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C90C1-9610-42FF-0985-AEB2E0D3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3CACB-A501-133E-6300-9E6A43BD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EDCFE6-1918-D9A6-A3B0-DA9C8ABE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73572-CFA9-70EE-F9AC-EA2B8349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CDF60-52DD-7641-702F-BB281F62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81" y="717961"/>
            <a:ext cx="7975437" cy="54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1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7260-C387-A63B-D137-F481BC5F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 (RPC)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7F46-B799-F169-3293-0A407D4B8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Ideally, RPC makes a call to a remote function look the same as a local function call.</a:t>
            </a:r>
          </a:p>
          <a:p>
            <a:r>
              <a:rPr lang="en-US" dirty="0"/>
              <a:t>“Location transparency”: system hides where a resource is located.</a:t>
            </a:r>
          </a:p>
          <a:p>
            <a:endParaRPr lang="en-US" dirty="0"/>
          </a:p>
          <a:p>
            <a:r>
              <a:rPr lang="en-US" dirty="0"/>
              <a:t>In practice. . .</a:t>
            </a:r>
          </a:p>
          <a:p>
            <a:pPr lvl="1"/>
            <a:r>
              <a:rPr lang="en-US" dirty="0"/>
              <a:t>what if the service crashes during the function call?</a:t>
            </a:r>
          </a:p>
          <a:p>
            <a:pPr lvl="1"/>
            <a:r>
              <a:rPr lang="en-US" dirty="0"/>
              <a:t>what if a message is lost?</a:t>
            </a:r>
          </a:p>
          <a:p>
            <a:pPr lvl="1"/>
            <a:r>
              <a:rPr lang="en-US" dirty="0"/>
              <a:t>what if a message is delayed?</a:t>
            </a:r>
          </a:p>
          <a:p>
            <a:pPr lvl="1"/>
            <a:r>
              <a:rPr lang="en-US" dirty="0"/>
              <a:t>if something goes wrong, is it safe to retry?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1C996-118C-AAE5-0754-6DEA9F2F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74953-90E3-8070-23AE-9E5E5371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7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E4F2-61F9-9999-2253-5355CA03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52ED-B4F1-CA44-D658-0B9A6A453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SunRPC</a:t>
            </a:r>
            <a:r>
              <a:rPr lang="en-US" dirty="0"/>
              <a:t>/ONC RPC (1980s, basis for NFS)</a:t>
            </a:r>
          </a:p>
          <a:p>
            <a:r>
              <a:rPr lang="en-US" dirty="0"/>
              <a:t>CORBA: object-oriented middleware, hot in the 1990s</a:t>
            </a:r>
          </a:p>
          <a:p>
            <a:r>
              <a:rPr lang="en-US" dirty="0"/>
              <a:t>Microsoft’s DCOM and Java RMI (similar to CORBA)</a:t>
            </a:r>
          </a:p>
          <a:p>
            <a:r>
              <a:rPr lang="en-US" dirty="0"/>
              <a:t>SOAP/XML-RPC: RPC using XML and HTTP (1998)</a:t>
            </a:r>
          </a:p>
          <a:p>
            <a:r>
              <a:rPr lang="en-US" dirty="0"/>
              <a:t>Thrift (Facebook, 2007)</a:t>
            </a:r>
          </a:p>
          <a:p>
            <a:r>
              <a:rPr lang="en-US" dirty="0" err="1"/>
              <a:t>gRPC</a:t>
            </a:r>
            <a:r>
              <a:rPr lang="en-US" dirty="0"/>
              <a:t> (Google, 2015)</a:t>
            </a:r>
          </a:p>
          <a:p>
            <a:r>
              <a:rPr lang="en-US" dirty="0"/>
              <a:t>REST (often with JSON)</a:t>
            </a:r>
          </a:p>
          <a:p>
            <a:r>
              <a:rPr lang="en-US" dirty="0"/>
              <a:t>Ajax in web browsers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E36E1-D882-11BF-D76D-E530AF0C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AA7E2-14A7-5B1F-AD3F-1427CC4A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0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72F8-5FFE-55C0-10CB-EF23FC4F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in enterprise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2C3E-1E6E-99B2-04FE-34A33940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“Service-oriented architecture” (SOA) / “microservices”:</a:t>
            </a:r>
          </a:p>
          <a:p>
            <a:pPr marL="0" indent="0">
              <a:buNone/>
            </a:pPr>
            <a:r>
              <a:rPr lang="en-US" dirty="0"/>
              <a:t>splitting a large software application into multiple services(on multiple nodes) that communicate via RPC.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Different services implemented in different languages:</a:t>
            </a:r>
          </a:p>
          <a:p>
            <a:r>
              <a:rPr lang="en-US" dirty="0"/>
              <a:t>interoperability: datatype conversions</a:t>
            </a:r>
          </a:p>
          <a:p>
            <a:r>
              <a:rPr lang="en-US" dirty="0"/>
              <a:t>Interface Definition Language (IDL):</a:t>
            </a:r>
            <a:br>
              <a:rPr lang="en-US" dirty="0"/>
            </a:br>
            <a:r>
              <a:rPr lang="en-US" dirty="0"/>
              <a:t>language-independent API specification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DF0F4-30B4-EB01-D74D-859F143C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852B5-F1A4-4C7D-F02F-D18AB76F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6B3E-F5B5-029C-E471-E7C68335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gRPC</a:t>
            </a:r>
            <a:r>
              <a:rPr lang="en-US" dirty="0"/>
              <a:t> IDL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4666EF-3D64-54BF-D213-BA5A81969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898" y="1846263"/>
            <a:ext cx="5158653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856FD-8B92-0BD6-49B2-9C0076DB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781F-26ED-5005-E3C3-4150F46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84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FA4-D2CF-CDD7-8F91-E8CB4203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0CB893-ED9D-DB7C-1BD4-D92502307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7906" y="2057149"/>
            <a:ext cx="4572638" cy="360095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770B2-5518-4AD8-6F85-8BF7E986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6C472-C5F9-E4EB-4F79-BE708E6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CE7B-4E98-CD32-1BBF-D45E6108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B3357B-4BC2-23FE-00E2-06DEC88D7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099" y="1690689"/>
            <a:ext cx="5821801" cy="439792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ECF80-352B-7F6C-9E0C-CA445E6E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6E204-5C74-EE41-0917-61186310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8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210F-352A-EE44-C6E3-F6528A1C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the generals decide?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E2FC-62B2-EE65-57B6-BED97502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General 1 always attacks, even if no response is received?</a:t>
            </a:r>
          </a:p>
          <a:p>
            <a:pPr lvl="1"/>
            <a:r>
              <a:rPr lang="en-US" dirty="0"/>
              <a:t>Send lots of messengers to increase probability that one will get through</a:t>
            </a:r>
          </a:p>
          <a:p>
            <a:pPr lvl="1"/>
            <a:r>
              <a:rPr lang="en-US" dirty="0"/>
              <a:t>If all are captured, general 2 does not know about the attack, so general 1 loses</a:t>
            </a:r>
          </a:p>
          <a:p>
            <a:pPr marL="0" indent="0">
              <a:buNone/>
            </a:pPr>
            <a:r>
              <a:rPr lang="en-US" dirty="0"/>
              <a:t>2. General 1 only attacks if positive response from general 2 is received?</a:t>
            </a:r>
          </a:p>
          <a:p>
            <a:pPr lvl="1"/>
            <a:r>
              <a:rPr lang="en-US" dirty="0"/>
              <a:t>Now general 1 is safe</a:t>
            </a:r>
          </a:p>
          <a:p>
            <a:pPr lvl="1"/>
            <a:r>
              <a:rPr lang="en-US" dirty="0"/>
              <a:t>But general 2 knows that general 1 will only attack if general 2’s response gets through</a:t>
            </a:r>
          </a:p>
          <a:p>
            <a:pPr lvl="1"/>
            <a:r>
              <a:rPr lang="en-US" dirty="0"/>
              <a:t>Now general 2 is in the same situation as general 1 in option 1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 common knowledge: the only way of knowing something is to communicate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5DB8E-8408-CF7D-99C6-6A0BCB24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C8776-818B-4DDD-5F02-1A6FEC37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5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B545-5292-1309-0F2A-CF7E90F8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generals problem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FA1E-F77C-D130-D483-1B54A9C96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Desired: online shop dispatches if and only if payment made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275FE-311A-E7BC-63B7-0EABD15B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B9F4A-80E7-1AD7-8571-0D953FC6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83B9E-24A5-08D7-9D22-BB0956E8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51" y="2492665"/>
            <a:ext cx="5156098" cy="34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44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DB76-95D0-3118-17D0-A0CA1C31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Byzantine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FA095F-CC43-DF0B-1190-9E7ED54F1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141" y="1938070"/>
            <a:ext cx="6030167" cy="383911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D3085-7BE5-CF13-508C-21A2ECF1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7EB50-2292-D630-88A1-BDD09AC2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4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FF12-8FEE-B1F6-EDC8-67971874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Generals that might lie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6720D0-DE15-8785-6887-BEC36D00D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872" y="1690689"/>
            <a:ext cx="6420694" cy="456236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5D32E-AA43-96F5-7F22-FA8B8F58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93C80-8332-CFCB-6AD4-4FA24AA8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31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40FD-951C-6ED9-BBAC-40F864D8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Byzantine generals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97BF-1EAD-3CBC-F453-F0100908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 to f generals might behave maliciously</a:t>
            </a:r>
          </a:p>
          <a:p>
            <a:r>
              <a:rPr lang="en-US" dirty="0"/>
              <a:t>Honest generals don’t know who the malicious ones are</a:t>
            </a:r>
          </a:p>
          <a:p>
            <a:r>
              <a:rPr lang="en-US" dirty="0"/>
              <a:t>The malicious generals may collude</a:t>
            </a:r>
          </a:p>
          <a:p>
            <a:r>
              <a:rPr lang="en-US" dirty="0"/>
              <a:t>Nevertheless, honest generals must agree on plan </a:t>
            </a:r>
          </a:p>
          <a:p>
            <a:endParaRPr lang="en-US" dirty="0"/>
          </a:p>
          <a:p>
            <a:r>
              <a:rPr lang="en-US" dirty="0"/>
              <a:t>Theorem: need 3f + 1 generals in total to tolerate malicious generals (i.e. &lt; 13 may be malicious)</a:t>
            </a:r>
          </a:p>
          <a:p>
            <a:r>
              <a:rPr lang="en-US" dirty="0"/>
              <a:t>Cryptography (digital signatures) helps – but problem remains hard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AB9C3-0E6C-8DE6-EB9F-D2D540DB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D097B-0A6C-E53E-7078-2D0508AC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25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3A5C-5101-2DCB-248C-F60E64AE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relationships and malicious </a:t>
            </a:r>
            <a:r>
              <a:rPr lang="en-US" dirty="0" err="1"/>
              <a:t>behaviour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6ED572-58BD-3FE5-7E7F-CD09F2602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616" y="2614439"/>
            <a:ext cx="4239217" cy="248637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BA67B-C009-39FC-AF6D-AB3CBFC50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6A1B-810E-BE21-DC59-3E29DC76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74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90CA-C225-F9DD-619B-119DF3E1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63C3F-AE67-7DAE-9C59-44DD3363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two thought experiments:</a:t>
            </a:r>
          </a:p>
          <a:p>
            <a:pPr lvl="1"/>
            <a:r>
              <a:rPr lang="en-US" dirty="0"/>
              <a:t>Two generals problem: a model of networks</a:t>
            </a:r>
          </a:p>
          <a:p>
            <a:pPr lvl="1"/>
            <a:r>
              <a:rPr lang="en-US" dirty="0"/>
              <a:t>Byzantine generals problem: a model of node </a:t>
            </a:r>
            <a:r>
              <a:rPr lang="en-US" dirty="0" err="1"/>
              <a:t>behaviour</a:t>
            </a:r>
            <a:endParaRPr lang="en-US" dirty="0"/>
          </a:p>
          <a:p>
            <a:r>
              <a:rPr lang="en-US" dirty="0"/>
              <a:t>In real systems, both nodes and networks may be faulty!</a:t>
            </a:r>
          </a:p>
          <a:p>
            <a:endParaRPr lang="en-US" dirty="0"/>
          </a:p>
          <a:p>
            <a:r>
              <a:rPr lang="en-US" dirty="0"/>
              <a:t>Capture assumptions in a system model consisting of:</a:t>
            </a:r>
          </a:p>
          <a:p>
            <a:pPr lvl="1"/>
            <a:r>
              <a:rPr lang="en-US" dirty="0"/>
              <a:t>Network </a:t>
            </a:r>
            <a:r>
              <a:rPr lang="en-US" dirty="0" err="1"/>
              <a:t>behaviour</a:t>
            </a:r>
            <a:r>
              <a:rPr lang="en-US" dirty="0"/>
              <a:t> (e.g. message loss)</a:t>
            </a:r>
          </a:p>
          <a:p>
            <a:pPr lvl="1"/>
            <a:r>
              <a:rPr lang="en-US" dirty="0"/>
              <a:t>Node </a:t>
            </a:r>
            <a:r>
              <a:rPr lang="en-US" dirty="0" err="1"/>
              <a:t>behaviour</a:t>
            </a:r>
            <a:r>
              <a:rPr lang="en-US" dirty="0"/>
              <a:t> (e.g. crashes)</a:t>
            </a:r>
          </a:p>
          <a:p>
            <a:pPr lvl="1"/>
            <a:r>
              <a:rPr lang="en-US" dirty="0"/>
              <a:t>Timing </a:t>
            </a:r>
            <a:r>
              <a:rPr lang="en-US" dirty="0" err="1"/>
              <a:t>behaviour</a:t>
            </a:r>
            <a:r>
              <a:rPr lang="en-US" dirty="0"/>
              <a:t> (e.g. latency)</a:t>
            </a:r>
          </a:p>
          <a:p>
            <a:r>
              <a:rPr lang="en-US" dirty="0"/>
              <a:t>Choice of models for each of these parts.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AEFDC-9227-A384-853B-4EACF6B5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18057-1BF9-B80D-5E01-23426131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7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2E85-32D5-C6DC-E54B-2AE6D81D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are unreliable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6BAAB-26AA-F7BD-1170-DBB6B211C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sea, </a:t>
            </a:r>
          </a:p>
          <a:p>
            <a:r>
              <a:rPr lang="en-US" dirty="0"/>
              <a:t>sharks bite </a:t>
            </a:r>
            <a:r>
              <a:rPr lang="en-US" dirty="0" err="1"/>
              <a:t>fibre</a:t>
            </a:r>
            <a:r>
              <a:rPr lang="en-US" dirty="0"/>
              <a:t> optic cables </a:t>
            </a:r>
            <a:r>
              <a:rPr lang="en-US" dirty="0">
                <a:hlinkClick r:id="rId2"/>
              </a:rPr>
              <a:t>https://slate.com/technology/2014/08/shark-attacks-threaten-google-s-undersea-internet-cables-video.html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On land, </a:t>
            </a:r>
          </a:p>
          <a:p>
            <a:pPr lvl="1"/>
            <a:r>
              <a:rPr lang="en-US" dirty="0"/>
              <a:t>cows step on the cables</a:t>
            </a:r>
            <a:br>
              <a:rPr lang="en-US" dirty="0"/>
            </a:br>
            <a:r>
              <a:rPr lang="en-US" dirty="0">
                <a:hlinkClick r:id="rId3"/>
              </a:rPr>
              <a:t>https://twitter.com/uhoelzle/status/1263333283107991558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27EBB-BA32-E960-0796-0919354C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CCC5-C2CA-C0E8-04D3-7739CE5C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1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9137-60FA-E5A2-E8CC-62B503EC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model: network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59CC-9CA4-E54C-C1C4-CDD37016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Assume bidirectional point-to-point communication between two nodes, with one of:</a:t>
            </a:r>
          </a:p>
          <a:p>
            <a:r>
              <a:rPr lang="en-US" b="1" dirty="0"/>
              <a:t>Reliable</a:t>
            </a:r>
            <a:r>
              <a:rPr lang="en-US" dirty="0"/>
              <a:t> (perfect) links: </a:t>
            </a:r>
          </a:p>
          <a:p>
            <a:pPr lvl="1"/>
            <a:r>
              <a:rPr lang="en-US" dirty="0"/>
              <a:t>A message is received if and only if it is sent.</a:t>
            </a:r>
          </a:p>
          <a:p>
            <a:pPr lvl="1"/>
            <a:r>
              <a:rPr lang="en-US" dirty="0"/>
              <a:t>Messages may be reordered.</a:t>
            </a:r>
          </a:p>
          <a:p>
            <a:r>
              <a:rPr lang="en-US" b="1" dirty="0"/>
              <a:t>Fair-loss</a:t>
            </a:r>
            <a:r>
              <a:rPr lang="en-US" dirty="0"/>
              <a:t> links:</a:t>
            </a:r>
          </a:p>
          <a:p>
            <a:pPr lvl="1"/>
            <a:r>
              <a:rPr lang="en-US" dirty="0"/>
              <a:t>Messages may be lost, duplicated, or reordered.</a:t>
            </a:r>
          </a:p>
          <a:p>
            <a:pPr lvl="1"/>
            <a:r>
              <a:rPr lang="en-US" dirty="0"/>
              <a:t>If you keep retrying, a message eventually gets through.</a:t>
            </a:r>
          </a:p>
          <a:p>
            <a:r>
              <a:rPr lang="en-US" b="1" dirty="0"/>
              <a:t>Arbitrary</a:t>
            </a:r>
            <a:r>
              <a:rPr lang="en-US" dirty="0"/>
              <a:t> links (active adversary):</a:t>
            </a:r>
          </a:p>
          <a:p>
            <a:pPr lvl="1"/>
            <a:r>
              <a:rPr lang="en-US" dirty="0"/>
              <a:t>A malicious adversary may interfere with messages(eavesdrop, modify, drop, spoof, replay).</a:t>
            </a:r>
          </a:p>
          <a:p>
            <a:pPr lvl="1"/>
            <a:endParaRPr lang="en-US" dirty="0"/>
          </a:p>
          <a:p>
            <a:r>
              <a:rPr lang="en-US" dirty="0"/>
              <a:t>Network partition: some links dropping/delaying all messages for extended period of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53004-5DA2-E5EF-6012-7183857A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05916-4AF0-38D6-254B-7B3D7E69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C3DA-83B1-2387-F9DD-B37E435A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model: node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B7C2-EAC6-FA8A-2035-A1B61372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node executes a specified algorithm, assuming one of the following:</a:t>
            </a:r>
          </a:p>
          <a:p>
            <a:r>
              <a:rPr lang="en-US" b="1" dirty="0"/>
              <a:t>Crash-stop</a:t>
            </a:r>
            <a:r>
              <a:rPr lang="en-US" dirty="0"/>
              <a:t> (fail-stop):</a:t>
            </a:r>
          </a:p>
          <a:p>
            <a:pPr lvl="1"/>
            <a:r>
              <a:rPr lang="en-US" dirty="0"/>
              <a:t>A node is faulty if it crashes (at any moment). After crashing, it stops executing forever.</a:t>
            </a:r>
          </a:p>
          <a:p>
            <a:r>
              <a:rPr lang="en-US" b="1" dirty="0"/>
              <a:t>Crash-recovery</a:t>
            </a:r>
            <a:r>
              <a:rPr lang="en-US" dirty="0"/>
              <a:t> (fail-recovery):</a:t>
            </a:r>
          </a:p>
          <a:p>
            <a:pPr lvl="1"/>
            <a:r>
              <a:rPr lang="en-US" dirty="0"/>
              <a:t>A node may crash at any moment, losing its in-memory state. It may resume executing sometime later.</a:t>
            </a:r>
          </a:p>
          <a:p>
            <a:r>
              <a:rPr lang="en-US" b="1" dirty="0"/>
              <a:t>Byzantine</a:t>
            </a:r>
            <a:r>
              <a:rPr lang="en-US" dirty="0"/>
              <a:t> (fail-arbitrary):</a:t>
            </a:r>
          </a:p>
          <a:p>
            <a:pPr lvl="1"/>
            <a:r>
              <a:rPr lang="en-US" dirty="0"/>
              <a:t>A node is faulty if it deviates from the algorithm.</a:t>
            </a:r>
          </a:p>
          <a:p>
            <a:pPr lvl="1"/>
            <a:r>
              <a:rPr lang="en-US" dirty="0"/>
              <a:t>Faulty nodes may do anything, including crashing or malicious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A node that is not faulty is called “correct”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86BC5-FD70-39F8-C367-5A4E5CBA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D7FE1-AC1E-7B02-7756-49F0F93B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8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83ED-2576-B974-2CB7-859B64CE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model: synchrony (timing)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021C-432F-6FF1-9324-8D048493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Assume one of the following for network and nodes:</a:t>
            </a:r>
          </a:p>
          <a:p>
            <a:r>
              <a:rPr lang="en-US" dirty="0"/>
              <a:t>Synchronous:</a:t>
            </a:r>
          </a:p>
          <a:p>
            <a:pPr lvl="1"/>
            <a:r>
              <a:rPr lang="en-US" dirty="0"/>
              <a:t>Message latency no greater than a known upper bound.</a:t>
            </a:r>
          </a:p>
          <a:p>
            <a:pPr lvl="1"/>
            <a:r>
              <a:rPr lang="en-US" dirty="0"/>
              <a:t>Nodes execute algorithm at a known speed.</a:t>
            </a:r>
          </a:p>
          <a:p>
            <a:r>
              <a:rPr lang="en-US" dirty="0"/>
              <a:t>Partially synchronous:</a:t>
            </a:r>
          </a:p>
          <a:p>
            <a:pPr lvl="1"/>
            <a:r>
              <a:rPr lang="en-US" dirty="0"/>
              <a:t>The system is asynchronous for some finite (but unknown) periods of time, synchronous otherwise.</a:t>
            </a:r>
          </a:p>
          <a:p>
            <a:r>
              <a:rPr lang="en-US" dirty="0"/>
              <a:t>Asynchronous:</a:t>
            </a:r>
          </a:p>
          <a:p>
            <a:pPr lvl="1"/>
            <a:r>
              <a:rPr lang="en-US" dirty="0"/>
              <a:t>Messages can be delayed arbitrarily. </a:t>
            </a:r>
          </a:p>
          <a:p>
            <a:pPr lvl="1"/>
            <a:r>
              <a:rPr lang="en-US" dirty="0"/>
              <a:t>Nodes can pause execution arbitrarily.</a:t>
            </a:r>
          </a:p>
          <a:p>
            <a:pPr lvl="1"/>
            <a:r>
              <a:rPr lang="en-US" dirty="0"/>
              <a:t>No timing guarantees at all.</a:t>
            </a:r>
          </a:p>
          <a:p>
            <a:r>
              <a:rPr lang="en-US" dirty="0"/>
              <a:t>Note: other parts of computer science use the </a:t>
            </a:r>
            <a:r>
              <a:rPr lang="en-US" dirty="0" err="1"/>
              <a:t>terms“synchronous</a:t>
            </a:r>
            <a:r>
              <a:rPr lang="en-US" dirty="0"/>
              <a:t>” and “asynchronous” differently.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BA01B-690A-A9BB-9150-02BBE017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B9A11-6088-C8C2-9C3A-59C62828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70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49D7-0601-75AA-D40B-7C8852F0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Violations of synchrony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4ABD-034D-0D57-5742-C5297E96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Networks usually have quite predictable latency, which can occasionally increase:</a:t>
            </a:r>
          </a:p>
          <a:p>
            <a:pPr lvl="1"/>
            <a:r>
              <a:rPr lang="en-US" dirty="0"/>
              <a:t>Message loss requiring retry</a:t>
            </a:r>
          </a:p>
          <a:p>
            <a:pPr lvl="1"/>
            <a:r>
              <a:rPr lang="en-US" dirty="0"/>
              <a:t>Congestion/contention causing queueing</a:t>
            </a:r>
          </a:p>
          <a:p>
            <a:pPr lvl="1"/>
            <a:r>
              <a:rPr lang="en-US" dirty="0"/>
              <a:t>Network/route reconfiguration</a:t>
            </a:r>
          </a:p>
          <a:p>
            <a:pPr lvl="1"/>
            <a:endParaRPr lang="en-US" dirty="0"/>
          </a:p>
          <a:p>
            <a:r>
              <a:rPr lang="en-US" dirty="0"/>
              <a:t>Nodes usually execute code at a predictable speed, with occasional pauses:</a:t>
            </a:r>
          </a:p>
          <a:p>
            <a:pPr lvl="1"/>
            <a:r>
              <a:rPr lang="en-US" dirty="0"/>
              <a:t>Operating system scheduling issues, e.g. priority inversion</a:t>
            </a:r>
          </a:p>
          <a:p>
            <a:pPr lvl="1"/>
            <a:r>
              <a:rPr lang="en-US" dirty="0"/>
              <a:t>Stop-the-world garbage collection pauses</a:t>
            </a:r>
          </a:p>
          <a:p>
            <a:pPr lvl="1"/>
            <a:r>
              <a:rPr lang="en-US" dirty="0"/>
              <a:t>Page faults, swap, thrashing</a:t>
            </a:r>
          </a:p>
          <a:p>
            <a:r>
              <a:rPr lang="en-US" dirty="0"/>
              <a:t>Real-time operating systems (RTOS) provide scheduling guarantees, but most distributed systems do not use RTOS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0080E-A8C4-9341-6B10-AB99B508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966B9-07CD-F71C-F940-753C7500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7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F4B2-0A9F-A7DF-4C06-15F648B6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FC3B-2D53-4AAB-D434-CBBA2301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of the three parts, pick one:</a:t>
            </a:r>
          </a:p>
          <a:p>
            <a:r>
              <a:rPr lang="en-US" dirty="0"/>
              <a:t>Network:</a:t>
            </a:r>
            <a:br>
              <a:rPr lang="en-US" dirty="0"/>
            </a:br>
            <a:r>
              <a:rPr lang="en-US" dirty="0"/>
              <a:t>reliable, fair-loss, or arbitrary</a:t>
            </a:r>
          </a:p>
          <a:p>
            <a:r>
              <a:rPr lang="en-US" dirty="0"/>
              <a:t>Nodes:</a:t>
            </a:r>
            <a:br>
              <a:rPr lang="en-US" dirty="0"/>
            </a:br>
            <a:r>
              <a:rPr lang="en-US" dirty="0"/>
              <a:t>crash-stop, crash-recovery, or Byzantine</a:t>
            </a:r>
          </a:p>
          <a:p>
            <a:r>
              <a:rPr lang="en-US" dirty="0"/>
              <a:t>Timing:</a:t>
            </a:r>
            <a:br>
              <a:rPr lang="en-US" dirty="0"/>
            </a:br>
            <a:r>
              <a:rPr lang="en-US" dirty="0"/>
              <a:t>synchronous, partially synchronous, or asynchronous</a:t>
            </a:r>
          </a:p>
          <a:p>
            <a:endParaRPr lang="en-US" dirty="0"/>
          </a:p>
          <a:p>
            <a:r>
              <a:rPr lang="en-US" dirty="0"/>
              <a:t>This is the basis for any distributed algorithm. If your assumptions are wrong, all bets are off!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2EBA3-A280-E5C9-B6F9-3671899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E397E-AA4F-788C-C4F4-E98306CD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948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2023</TotalTime>
  <Words>1710</Words>
  <Application>Microsoft Office PowerPoint</Application>
  <PresentationFormat>On-screen Show (4:3)</PresentationFormat>
  <Paragraphs>243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-apple-system</vt:lpstr>
      <vt:lpstr>Arial</vt:lpstr>
      <vt:lpstr>Calibri</vt:lpstr>
      <vt:lpstr>Calibri Light</vt:lpstr>
      <vt:lpstr>Tahoma</vt:lpstr>
      <vt:lpstr>Retrospect</vt:lpstr>
      <vt:lpstr>Lecture # 10  </vt:lpstr>
      <vt:lpstr>Attribution</vt:lpstr>
      <vt:lpstr>Agenda</vt:lpstr>
      <vt:lpstr>A distributed system is. . .</vt:lpstr>
      <vt:lpstr>Why make a system distributed?</vt:lpstr>
      <vt:lpstr>Why NOT make a system distributed?</vt:lpstr>
      <vt:lpstr>Distributed Systems and Computer Networking</vt:lpstr>
      <vt:lpstr>Latency and Bandwidth</vt:lpstr>
      <vt:lpstr>Client-server example: the web</vt:lpstr>
      <vt:lpstr>Client-server example: online payments</vt:lpstr>
      <vt:lpstr>Remote Procedure Call (RPC) example</vt:lpstr>
      <vt:lpstr>PowerPoint Presentation</vt:lpstr>
      <vt:lpstr>Remote Procedure Call (RPC)</vt:lpstr>
      <vt:lpstr>RPC history</vt:lpstr>
      <vt:lpstr>RPC in enterprise systems</vt:lpstr>
      <vt:lpstr>gRPC IDL example</vt:lpstr>
      <vt:lpstr>The two generals problem</vt:lpstr>
      <vt:lpstr>The two generals problem</vt:lpstr>
      <vt:lpstr>How should the generals decide?</vt:lpstr>
      <vt:lpstr>The two generals problem applied</vt:lpstr>
      <vt:lpstr>The Byzantine generals problem</vt:lpstr>
      <vt:lpstr>Generals that might lie</vt:lpstr>
      <vt:lpstr>The Byzantine generals problem</vt:lpstr>
      <vt:lpstr>Trust relationships and malicious behaviour</vt:lpstr>
      <vt:lpstr>System models</vt:lpstr>
      <vt:lpstr>Networks are unreliable</vt:lpstr>
      <vt:lpstr>System model: network behaviour</vt:lpstr>
      <vt:lpstr>System model: node behaviour</vt:lpstr>
      <vt:lpstr>System model: synchrony (timing) assumptions</vt:lpstr>
      <vt:lpstr>Violations of synchrony in practice</vt:lpstr>
      <vt:lpstr>System models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Adil Saleem / PhD Scholar</dc:creator>
  <cp:lastModifiedBy>Muhammad Zain Uddin / Lecturer</cp:lastModifiedBy>
  <cp:revision>159</cp:revision>
  <dcterms:created xsi:type="dcterms:W3CDTF">2022-08-15T03:57:02Z</dcterms:created>
  <dcterms:modified xsi:type="dcterms:W3CDTF">2026-04-21T03:10:47Z</dcterms:modified>
</cp:coreProperties>
</file>