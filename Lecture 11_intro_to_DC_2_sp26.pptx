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50"/>
  </p:notesMasterIdLst>
  <p:sldIdLst>
    <p:sldId id="259" r:id="rId2"/>
    <p:sldId id="260" r:id="rId3"/>
    <p:sldId id="331" r:id="rId4"/>
    <p:sldId id="366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85" r:id="rId24"/>
    <p:sldId id="386" r:id="rId25"/>
    <p:sldId id="387" r:id="rId26"/>
    <p:sldId id="388" r:id="rId27"/>
    <p:sldId id="389" r:id="rId28"/>
    <p:sldId id="390" r:id="rId29"/>
    <p:sldId id="391" r:id="rId30"/>
    <p:sldId id="392" r:id="rId31"/>
    <p:sldId id="393" r:id="rId32"/>
    <p:sldId id="394" r:id="rId33"/>
    <p:sldId id="395" r:id="rId34"/>
    <p:sldId id="343" r:id="rId35"/>
    <p:sldId id="332" r:id="rId36"/>
    <p:sldId id="344" r:id="rId37"/>
    <p:sldId id="345" r:id="rId38"/>
    <p:sldId id="333" r:id="rId39"/>
    <p:sldId id="334" r:id="rId40"/>
    <p:sldId id="346" r:id="rId41"/>
    <p:sldId id="335" r:id="rId42"/>
    <p:sldId id="336" r:id="rId43"/>
    <p:sldId id="337" r:id="rId44"/>
    <p:sldId id="338" r:id="rId45"/>
    <p:sldId id="339" r:id="rId46"/>
    <p:sldId id="340" r:id="rId47"/>
    <p:sldId id="341" r:id="rId48"/>
    <p:sldId id="342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3D2356-F6E5-4F15-BA3F-387828740D47}" v="4" dt="2026-04-23T02:40:09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Zain Uddin / Lecturer" userId="7a68dbb1-7895-4297-b4eb-d776c3a73b03" providerId="ADAL" clId="{FC3D2356-F6E5-4F15-BA3F-387828740D47}"/>
    <pc:docChg chg="custSel addSld modSld">
      <pc:chgData name="Muhammad Zain Uddin / Lecturer" userId="7a68dbb1-7895-4297-b4eb-d776c3a73b03" providerId="ADAL" clId="{FC3D2356-F6E5-4F15-BA3F-387828740D47}" dt="2026-04-23T02:40:09.532" v="3" actId="27636"/>
      <pc:docMkLst>
        <pc:docMk/>
      </pc:docMkLst>
      <pc:sldChg chg="add">
        <pc:chgData name="Muhammad Zain Uddin / Lecturer" userId="7a68dbb1-7895-4297-b4eb-d776c3a73b03" providerId="ADAL" clId="{FC3D2356-F6E5-4F15-BA3F-387828740D47}" dt="2026-04-23T02:40:08.940" v="0"/>
        <pc:sldMkLst>
          <pc:docMk/>
          <pc:sldMk cId="2178448416" sldId="332"/>
        </pc:sldMkLst>
      </pc:sldChg>
      <pc:sldChg chg="add">
        <pc:chgData name="Muhammad Zain Uddin / Lecturer" userId="7a68dbb1-7895-4297-b4eb-d776c3a73b03" providerId="ADAL" clId="{FC3D2356-F6E5-4F15-BA3F-387828740D47}" dt="2026-04-23T02:40:08.940" v="0"/>
        <pc:sldMkLst>
          <pc:docMk/>
          <pc:sldMk cId="2736637961" sldId="333"/>
        </pc:sldMkLst>
      </pc:sldChg>
      <pc:sldChg chg="add">
        <pc:chgData name="Muhammad Zain Uddin / Lecturer" userId="7a68dbb1-7895-4297-b4eb-d776c3a73b03" providerId="ADAL" clId="{FC3D2356-F6E5-4F15-BA3F-387828740D47}" dt="2026-04-23T02:40:08.940" v="0"/>
        <pc:sldMkLst>
          <pc:docMk/>
          <pc:sldMk cId="1542540588" sldId="334"/>
        </pc:sldMkLst>
      </pc:sldChg>
      <pc:sldChg chg="add">
        <pc:chgData name="Muhammad Zain Uddin / Lecturer" userId="7a68dbb1-7895-4297-b4eb-d776c3a73b03" providerId="ADAL" clId="{FC3D2356-F6E5-4F15-BA3F-387828740D47}" dt="2026-04-23T02:40:08.940" v="0"/>
        <pc:sldMkLst>
          <pc:docMk/>
          <pc:sldMk cId="461768922" sldId="335"/>
        </pc:sldMkLst>
      </pc:sldChg>
      <pc:sldChg chg="add">
        <pc:chgData name="Muhammad Zain Uddin / Lecturer" userId="7a68dbb1-7895-4297-b4eb-d776c3a73b03" providerId="ADAL" clId="{FC3D2356-F6E5-4F15-BA3F-387828740D47}" dt="2026-04-23T02:40:08.940" v="0"/>
        <pc:sldMkLst>
          <pc:docMk/>
          <pc:sldMk cId="3147564790" sldId="336"/>
        </pc:sldMkLst>
      </pc:sldChg>
      <pc:sldChg chg="modSp add mod">
        <pc:chgData name="Muhammad Zain Uddin / Lecturer" userId="7a68dbb1-7895-4297-b4eb-d776c3a73b03" providerId="ADAL" clId="{FC3D2356-F6E5-4F15-BA3F-387828740D47}" dt="2026-04-23T02:40:09.473" v="2" actId="27636"/>
        <pc:sldMkLst>
          <pc:docMk/>
          <pc:sldMk cId="3071365005" sldId="337"/>
        </pc:sldMkLst>
        <pc:spChg chg="mod">
          <ac:chgData name="Muhammad Zain Uddin / Lecturer" userId="7a68dbb1-7895-4297-b4eb-d776c3a73b03" providerId="ADAL" clId="{FC3D2356-F6E5-4F15-BA3F-387828740D47}" dt="2026-04-23T02:40:09.473" v="2" actId="27636"/>
          <ac:spMkLst>
            <pc:docMk/>
            <pc:sldMk cId="3071365005" sldId="337"/>
            <ac:spMk id="3" creationId="{84383B1F-3CE1-644F-7A71-50C9CE2B2DB3}"/>
          </ac:spMkLst>
        </pc:spChg>
      </pc:sldChg>
      <pc:sldChg chg="add">
        <pc:chgData name="Muhammad Zain Uddin / Lecturer" userId="7a68dbb1-7895-4297-b4eb-d776c3a73b03" providerId="ADAL" clId="{FC3D2356-F6E5-4F15-BA3F-387828740D47}" dt="2026-04-23T02:40:08.940" v="0"/>
        <pc:sldMkLst>
          <pc:docMk/>
          <pc:sldMk cId="3384119316" sldId="338"/>
        </pc:sldMkLst>
      </pc:sldChg>
      <pc:sldChg chg="add">
        <pc:chgData name="Muhammad Zain Uddin / Lecturer" userId="7a68dbb1-7895-4297-b4eb-d776c3a73b03" providerId="ADAL" clId="{FC3D2356-F6E5-4F15-BA3F-387828740D47}" dt="2026-04-23T02:40:08.940" v="0"/>
        <pc:sldMkLst>
          <pc:docMk/>
          <pc:sldMk cId="3217862778" sldId="339"/>
        </pc:sldMkLst>
      </pc:sldChg>
      <pc:sldChg chg="modSp add mod">
        <pc:chgData name="Muhammad Zain Uddin / Lecturer" userId="7a68dbb1-7895-4297-b4eb-d776c3a73b03" providerId="ADAL" clId="{FC3D2356-F6E5-4F15-BA3F-387828740D47}" dt="2026-04-23T02:40:09.532" v="3" actId="27636"/>
        <pc:sldMkLst>
          <pc:docMk/>
          <pc:sldMk cId="836507446" sldId="340"/>
        </pc:sldMkLst>
        <pc:spChg chg="mod">
          <ac:chgData name="Muhammad Zain Uddin / Lecturer" userId="7a68dbb1-7895-4297-b4eb-d776c3a73b03" providerId="ADAL" clId="{FC3D2356-F6E5-4F15-BA3F-387828740D47}" dt="2026-04-23T02:40:09.532" v="3" actId="27636"/>
          <ac:spMkLst>
            <pc:docMk/>
            <pc:sldMk cId="836507446" sldId="340"/>
            <ac:spMk id="3" creationId="{ABF89C1A-27EE-D56B-C243-7E3E2A81A522}"/>
          </ac:spMkLst>
        </pc:spChg>
      </pc:sldChg>
      <pc:sldChg chg="add">
        <pc:chgData name="Muhammad Zain Uddin / Lecturer" userId="7a68dbb1-7895-4297-b4eb-d776c3a73b03" providerId="ADAL" clId="{FC3D2356-F6E5-4F15-BA3F-387828740D47}" dt="2026-04-23T02:40:08.940" v="0"/>
        <pc:sldMkLst>
          <pc:docMk/>
          <pc:sldMk cId="3082321294" sldId="341"/>
        </pc:sldMkLst>
      </pc:sldChg>
      <pc:sldChg chg="add">
        <pc:chgData name="Muhammad Zain Uddin / Lecturer" userId="7a68dbb1-7895-4297-b4eb-d776c3a73b03" providerId="ADAL" clId="{FC3D2356-F6E5-4F15-BA3F-387828740D47}" dt="2026-04-23T02:40:08.940" v="0"/>
        <pc:sldMkLst>
          <pc:docMk/>
          <pc:sldMk cId="3582120607" sldId="342"/>
        </pc:sldMkLst>
      </pc:sldChg>
      <pc:sldChg chg="add">
        <pc:chgData name="Muhammad Zain Uddin / Lecturer" userId="7a68dbb1-7895-4297-b4eb-d776c3a73b03" providerId="ADAL" clId="{FC3D2356-F6E5-4F15-BA3F-387828740D47}" dt="2026-04-23T02:40:08.940" v="0"/>
        <pc:sldMkLst>
          <pc:docMk/>
          <pc:sldMk cId="3426634814" sldId="343"/>
        </pc:sldMkLst>
      </pc:sldChg>
      <pc:sldChg chg="modSp add mod">
        <pc:chgData name="Muhammad Zain Uddin / Lecturer" userId="7a68dbb1-7895-4297-b4eb-d776c3a73b03" providerId="ADAL" clId="{FC3D2356-F6E5-4F15-BA3F-387828740D47}" dt="2026-04-23T02:40:09.148" v="1" actId="27636"/>
        <pc:sldMkLst>
          <pc:docMk/>
          <pc:sldMk cId="833789720" sldId="344"/>
        </pc:sldMkLst>
        <pc:spChg chg="mod">
          <ac:chgData name="Muhammad Zain Uddin / Lecturer" userId="7a68dbb1-7895-4297-b4eb-d776c3a73b03" providerId="ADAL" clId="{FC3D2356-F6E5-4F15-BA3F-387828740D47}" dt="2026-04-23T02:40:09.148" v="1" actId="27636"/>
          <ac:spMkLst>
            <pc:docMk/>
            <pc:sldMk cId="833789720" sldId="344"/>
            <ac:spMk id="3" creationId="{7A8D244E-D202-616B-7048-73FB65E2E35B}"/>
          </ac:spMkLst>
        </pc:spChg>
      </pc:sldChg>
      <pc:sldChg chg="add">
        <pc:chgData name="Muhammad Zain Uddin / Lecturer" userId="7a68dbb1-7895-4297-b4eb-d776c3a73b03" providerId="ADAL" clId="{FC3D2356-F6E5-4F15-BA3F-387828740D47}" dt="2026-04-23T02:40:08.940" v="0"/>
        <pc:sldMkLst>
          <pc:docMk/>
          <pc:sldMk cId="619442293" sldId="345"/>
        </pc:sldMkLst>
      </pc:sldChg>
      <pc:sldChg chg="add">
        <pc:chgData name="Muhammad Zain Uddin / Lecturer" userId="7a68dbb1-7895-4297-b4eb-d776c3a73b03" providerId="ADAL" clId="{FC3D2356-F6E5-4F15-BA3F-387828740D47}" dt="2026-04-23T02:40:08.940" v="0"/>
        <pc:sldMkLst>
          <pc:docMk/>
          <pc:sldMk cId="2317356965" sldId="346"/>
        </pc:sldMkLst>
      </pc:sldChg>
      <pc:sldChg chg="add">
        <pc:chgData name="Muhammad Zain Uddin / Lecturer" userId="7a68dbb1-7895-4297-b4eb-d776c3a73b03" providerId="ADAL" clId="{FC3D2356-F6E5-4F15-BA3F-387828740D47}" dt="2026-04-23T02:40:08.940" v="0"/>
        <pc:sldMkLst>
          <pc:docMk/>
          <pc:sldMk cId="2128381006" sldId="394"/>
        </pc:sldMkLst>
      </pc:sldChg>
      <pc:sldChg chg="add">
        <pc:chgData name="Muhammad Zain Uddin / Lecturer" userId="7a68dbb1-7895-4297-b4eb-d776c3a73b03" providerId="ADAL" clId="{FC3D2356-F6E5-4F15-BA3F-387828740D47}" dt="2026-04-23T02:40:08.940" v="0"/>
        <pc:sldMkLst>
          <pc:docMk/>
          <pc:sldMk cId="3838319207" sldId="3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35C6B-9CE8-4A17-9DF9-677D268CDB0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CE74B-62E3-459E-9BCB-5EFC988B6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06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22F342-7191-4188-8BCB-6F641BCCA9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5477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554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EE13-E7AC-4C47-B56C-372B71562AF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6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3240-5FB7-46C6-9266-2CF90F107C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028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98008-5B06-4453-BFA1-6C240E9B9608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8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3F27-D3E4-46EA-A360-51F7CA3365D9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75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6AA3-AA26-4467-A4E1-987C79C7D4ED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8BF3-AD4D-4AB0-9881-B7B8561B392F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Parallel and Distributed Computing – Spring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181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DDCE225B-104C-4B87-964F-1F99C7E6C360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Parallel and Distributed Computing – Spring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36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F8AE-799F-4599-B5D0-80579B251FFF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2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87AFB-53C8-4F44-B9C0-0736AAE5FC37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4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E9CC-9323-4BD4-ADDA-C860C560F5F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36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3D791-ECCE-BF65-0BD1-A4B89F019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9BEA26-57C4-7F21-1944-1BA6C3C3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ADE5-C55E-444E-A489-3DC4C5EFF64D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5B8480-C891-4BC6-2FC5-94E2C7327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9557FA-D8C3-E013-9A3E-4E940384A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4C6BCCB-6B2B-DDDE-EF16-0D8F40A3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600" b="1">
                <a:solidFill>
                  <a:srgbClr val="99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724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6F23B07-B5F7-4C98-888E-419C0F9847E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Parallel and Distributed Computing –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8AD31FB-25C6-4CFC-893E-218B9752283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354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50" r:id="rId12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uhoelzle/status/1263333283107991558" TargetMode="External"/><Relationship Id="rId2" Type="http://schemas.openxmlformats.org/officeDocument/2006/relationships/hyperlink" Target="https://slate.com/technology/2014/08/shark-attacks-threaten-google-s-undersea-internet-cables-video.htm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r>
              <a:rPr lang="en-US" sz="675">
                <a:latin typeface="Calibri" panose="020F0502020204030204"/>
              </a:rPr>
              <a:t>M. Zain Uddin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2A571446-35F1-4CD5-8066-69BB6D4AC6EC}" type="slidenum">
              <a:rPr lang="en-US" sz="788">
                <a:latin typeface="Calibri" panose="020F0502020204030204"/>
              </a:rPr>
              <a:pPr defTabSz="685800">
                <a:defRPr/>
              </a:pPr>
              <a:t>1</a:t>
            </a:fld>
            <a:endParaRPr lang="en-US" sz="788">
              <a:latin typeface="Calibri" panose="020F0502020204030204"/>
            </a:endParaRPr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1434703" y="2265589"/>
            <a:ext cx="6274594" cy="1273969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2700" b="1">
                <a:solidFill>
                  <a:schemeClr val="folHlink"/>
                </a:solidFill>
              </a:rPr>
              <a:t>Lecture # 10</a:t>
            </a:r>
            <a:br>
              <a:rPr lang="en-US" sz="2700" b="1">
                <a:solidFill>
                  <a:schemeClr val="folHlink"/>
                </a:solidFill>
              </a:rPr>
            </a:br>
            <a:br>
              <a:rPr lang="en-US" sz="2700" b="1">
                <a:solidFill>
                  <a:schemeClr val="folHlink"/>
                </a:solidFill>
              </a:rPr>
            </a:br>
            <a:endParaRPr lang="en-US" sz="2700" b="1">
              <a:solidFill>
                <a:schemeClr val="folHlink"/>
              </a:solidFill>
            </a:endParaRPr>
          </a:p>
        </p:txBody>
      </p:sp>
      <p:sp>
        <p:nvSpPr>
          <p:cNvPr id="9222" name="Text Box 4"/>
          <p:cNvSpPr txBox="1">
            <a:spLocks noChangeArrowheads="1"/>
          </p:cNvSpPr>
          <p:nvPr/>
        </p:nvSpPr>
        <p:spPr bwMode="auto">
          <a:xfrm>
            <a:off x="2000250" y="3943350"/>
            <a:ext cx="51435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800">
                <a:solidFill>
                  <a:srgbClr val="000000"/>
                </a:solidFill>
              </a:rPr>
              <a:t>By: Muhammad Zain Uddin</a:t>
            </a:r>
          </a:p>
          <a:p>
            <a:pPr algn="ctr"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800">
                <a:solidFill>
                  <a:srgbClr val="000000"/>
                </a:solidFill>
              </a:rPr>
              <a:t>email: zuddin@iba.edu.pk</a:t>
            </a:r>
          </a:p>
          <a:p>
            <a:pPr algn="ctr" defTabSz="685800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935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BE0B-CECF-DA50-E497-4018C02F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429C5-F8DA-85A2-9D7F-13A4144A1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Today’s lecture is based on lecture on Martin </a:t>
            </a:r>
            <a:r>
              <a:rPr lang="en-US" err="1"/>
              <a:t>Kleppmann’s</a:t>
            </a:r>
            <a:r>
              <a:rPr lang="en-US"/>
              <a:t> Distributed System Lecture Series</a:t>
            </a:r>
            <a:endParaRPr lang="en-US" b="0" i="0">
              <a:solidFill>
                <a:srgbClr val="212529"/>
              </a:solidFill>
              <a:effectLst/>
              <a:latin typeface="-apple-system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912EF-573F-8AF3-8525-E6C7C5E9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F61B2-C9F9-12CA-BD55-FE6141E0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67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FABEA-B6E0-9AF1-EE65-0841718DA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AD9F-09B6-DB23-F5ED-0F1316E97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65A94-D19B-F8FA-F24D-A5E75AD42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What is Distributed Computing (or Systems)</a:t>
            </a:r>
          </a:p>
          <a:p>
            <a:pPr lvl="1"/>
            <a:r>
              <a:rPr lang="en-US"/>
              <a:t>Why make a system distributed? Why not?</a:t>
            </a:r>
          </a:p>
          <a:p>
            <a:r>
              <a:rPr lang="en-US"/>
              <a:t>Latency and Bandwidth</a:t>
            </a:r>
          </a:p>
          <a:p>
            <a:r>
              <a:rPr lang="en-US"/>
              <a:t>Remote Procedure Call (RPC)</a:t>
            </a:r>
          </a:p>
          <a:p>
            <a:r>
              <a:rPr lang="en-US"/>
              <a:t>Model of Distributed Systems</a:t>
            </a:r>
          </a:p>
          <a:p>
            <a:pPr lvl="1"/>
            <a:r>
              <a:rPr lang="en-US"/>
              <a:t>Two generals problem</a:t>
            </a:r>
          </a:p>
          <a:p>
            <a:pPr lvl="1"/>
            <a:r>
              <a:rPr lang="en-US"/>
              <a:t>Byzantine generals problem</a:t>
            </a:r>
          </a:p>
          <a:p>
            <a:r>
              <a:rPr lang="en-US"/>
              <a:t>System Model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0FA2F-A4C9-FC2A-A503-773A8959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3218B-2EE8-14EB-6C29-22BD556C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79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6372-F043-B619-9648-9B1B7672E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distributed system is. . 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C4F3A-D3DA-CC4C-BF26-3223BAA5A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 “. . . a system in which the failure of a computer you didn’t even know existed can render your own computer unusable.” — Leslie </a:t>
            </a:r>
            <a:r>
              <a:rPr lang="en-US" err="1"/>
              <a:t>Lamport</a:t>
            </a:r>
            <a:endParaRPr lang="en-US"/>
          </a:p>
          <a:p>
            <a:r>
              <a:rPr lang="en-US"/>
              <a:t>multiple computers communicating via a network</a:t>
            </a:r>
          </a:p>
          <a:p>
            <a:r>
              <a:rPr lang="en-US"/>
              <a:t> trying to achieve some task together</a:t>
            </a:r>
          </a:p>
          <a:p>
            <a:r>
              <a:rPr lang="en-US"/>
              <a:t>Consists of “nodes” (computer, phone, car, robot, . . . 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A0868-CD11-9BF4-7A2E-CC7021756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80FEA-AC8F-3E32-98E7-9A59584EF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6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A2C4A-4AFA-054C-5EC5-FB9B7552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make a system distributed?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16B45-27FD-3FD5-C626-4BDCDE7B5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It’s inherently distributed:</a:t>
            </a:r>
          </a:p>
          <a:p>
            <a:pPr lvl="1"/>
            <a:r>
              <a:rPr lang="en-US"/>
              <a:t>e.g. sending a message from your mobile phone to your friend’s phone</a:t>
            </a:r>
          </a:p>
          <a:p>
            <a:r>
              <a:rPr lang="en-US"/>
              <a:t>For better reliability:</a:t>
            </a:r>
          </a:p>
          <a:p>
            <a:pPr lvl="1"/>
            <a:r>
              <a:rPr lang="en-US"/>
              <a:t>even if one node fails, the system as a whole keeps functioning</a:t>
            </a:r>
          </a:p>
          <a:p>
            <a:r>
              <a:rPr lang="en-US"/>
              <a:t>For better performance:</a:t>
            </a:r>
          </a:p>
          <a:p>
            <a:pPr lvl="1"/>
            <a:r>
              <a:rPr lang="en-US"/>
              <a:t>get data from a nearby node rather than one halfway round the world</a:t>
            </a:r>
          </a:p>
          <a:p>
            <a:r>
              <a:rPr lang="en-US"/>
              <a:t>To solve bigger problems:</a:t>
            </a:r>
          </a:p>
          <a:p>
            <a:pPr lvl="1"/>
            <a:r>
              <a:rPr lang="en-US"/>
              <a:t>e.g. huge amounts of data, can’t fit on one machine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B96B5-DADA-680B-E80B-587CAF24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1F4A8-7D25-D221-3F83-90A1CADA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76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1A23-3BCF-57B5-3082-A2B736CB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NOT make a system distributed?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8FEB-8320-9442-268C-D602F6DCC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trouble with distributed systems:</a:t>
            </a:r>
          </a:p>
          <a:p>
            <a:pPr lvl="1"/>
            <a:r>
              <a:rPr lang="en-US"/>
              <a:t>Communication may fail (and we might not even know it has failed)</a:t>
            </a:r>
          </a:p>
          <a:p>
            <a:pPr lvl="1"/>
            <a:r>
              <a:rPr lang="en-US"/>
              <a:t>Processes may crash (and we might not know)</a:t>
            </a:r>
          </a:p>
          <a:p>
            <a:pPr lvl="1"/>
            <a:r>
              <a:rPr lang="en-US"/>
              <a:t>All of this may happen non-deterministically.</a:t>
            </a:r>
          </a:p>
          <a:p>
            <a:pPr lvl="1"/>
            <a:endParaRPr lang="en-US"/>
          </a:p>
          <a:p>
            <a:r>
              <a:rPr lang="en-US"/>
              <a:t>Fault tolerance: we want the system as a whole to continue working, even when some parts are faulty. </a:t>
            </a:r>
          </a:p>
          <a:p>
            <a:pPr lvl="1"/>
            <a:r>
              <a:rPr lang="en-US"/>
              <a:t>This is hard.</a:t>
            </a:r>
          </a:p>
          <a:p>
            <a:pPr lvl="1"/>
            <a:r>
              <a:rPr lang="en-US"/>
              <a:t>Writing a program to run on a single computer is comparatively easy?!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274EE-2CD4-A5C9-D145-799B174C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F1CE4-75C6-C4D1-BA1F-B0A6BEB08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13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9B65-F9F7-7403-CA2D-C9E8E3B5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Systems and Computer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1508D-1C29-8464-A02A-61EA9244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use a simple abstraction of communication: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Reality is much more complex:</a:t>
            </a:r>
          </a:p>
          <a:p>
            <a:pPr lvl="1"/>
            <a:r>
              <a:rPr lang="en-US"/>
              <a:t>Various network operators: </a:t>
            </a:r>
            <a:r>
              <a:rPr lang="en-US" err="1"/>
              <a:t>eduroam</a:t>
            </a:r>
            <a:r>
              <a:rPr lang="en-US"/>
              <a:t>, home DSL, cellular data, coffee shop </a:t>
            </a:r>
            <a:r>
              <a:rPr lang="en-US" err="1"/>
              <a:t>wifi</a:t>
            </a:r>
            <a:r>
              <a:rPr lang="en-US"/>
              <a:t>, submarine cable, satellite. . .</a:t>
            </a:r>
          </a:p>
          <a:p>
            <a:pPr lvl="1"/>
            <a:r>
              <a:rPr lang="en-US"/>
              <a:t>Physical communication: electric current, radio waves, laser, hard drives in a van. . 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7F501-A117-B9C8-FD11-3DA4C380F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79CD7-99CC-B2B0-0836-36B6BF6C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989172-0E09-1051-EBAF-C957C4815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865" y="2400156"/>
            <a:ext cx="4258269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08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6DBA-4769-166F-FA87-CDA32408A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Latency and Bandwidth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E3B13-1F79-487B-8F03-B51B87A16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Latency</a:t>
            </a:r>
            <a:r>
              <a:rPr lang="en-US"/>
              <a:t>: time until message arrives</a:t>
            </a:r>
          </a:p>
          <a:p>
            <a:r>
              <a:rPr lang="en-US"/>
              <a:t>In the same building/datacenter: ≈ 1 </a:t>
            </a:r>
            <a:r>
              <a:rPr lang="en-US" err="1"/>
              <a:t>ms</a:t>
            </a:r>
            <a:endParaRPr lang="en-US"/>
          </a:p>
          <a:p>
            <a:r>
              <a:rPr lang="en-US"/>
              <a:t>One continent to another: ≈ 100 </a:t>
            </a:r>
            <a:r>
              <a:rPr lang="en-US" err="1"/>
              <a:t>ms</a:t>
            </a:r>
            <a:endParaRPr lang="en-US"/>
          </a:p>
          <a:p>
            <a:r>
              <a:rPr lang="en-US"/>
              <a:t>Hard drives in a van: ≈ 1 day</a:t>
            </a:r>
          </a:p>
          <a:p>
            <a:pPr marL="0" indent="0">
              <a:buNone/>
            </a:pPr>
            <a:r>
              <a:rPr lang="en-US" b="1"/>
              <a:t>Bandwidth</a:t>
            </a:r>
            <a:r>
              <a:rPr lang="en-US"/>
              <a:t>: data volume per unit time</a:t>
            </a:r>
          </a:p>
          <a:p>
            <a:r>
              <a:rPr lang="en-US"/>
              <a:t>3G cellular data: ≈ 1 Mbit/s</a:t>
            </a:r>
          </a:p>
          <a:p>
            <a:r>
              <a:rPr lang="en-US"/>
              <a:t>Home broadband: ≈ 10 Mbit/s</a:t>
            </a:r>
          </a:p>
          <a:p>
            <a:r>
              <a:rPr lang="en-US"/>
              <a:t>Hard drives in a van: 50 TB/box ≈ 1 Gbit/s</a:t>
            </a:r>
          </a:p>
          <a:p>
            <a:r>
              <a:rPr lang="en-US"/>
              <a:t>(Very rough numbers, vary hugely in practice!)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8214A-326E-0722-FF05-7D034BCCC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E3850-346D-9AA2-02CF-A9E5F4A2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12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D7BD-E7F3-4AE8-40DC-4156C06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Client-server example: the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2BF84-F55D-72B6-5D0E-8A8317D63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Time flows from top to bottom.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10E25-2B59-595E-F851-0A9C49563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2E214-8B9B-4D78-19BE-348302A3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439096-6459-2766-CD55-F06F64BC4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4" y="2545143"/>
            <a:ext cx="6943352" cy="291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90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CC78-C91C-5020-12CE-497353B56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Client-server example: online payments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0FBB84-628B-F0BF-E17D-C915351D1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1260" y="2082298"/>
            <a:ext cx="6201479" cy="269340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5E2230-E89B-AAEB-3CC0-3D867238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3DFF0-A50D-B9D2-2DD9-481B13A9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0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06E5F-901F-3BAF-6BF1-BEA5D1AD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Remote Procedure Call (RPC)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8DF83B-B0A9-A4C9-43A7-F6C010BE7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2042" y="1846263"/>
            <a:ext cx="6584365" cy="402272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C90C1-9610-42FF-0985-AEB2E0D3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3CACB-A501-133E-6300-9E6A43BD9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0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EDCFE6-1918-D9A6-A3B0-DA9C8ABE6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873572-CFA9-70EE-F9AC-EA2B83491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CDF60-52DD-7641-702F-BB281F621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81" y="717961"/>
            <a:ext cx="7975437" cy="542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14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7260-C387-A63B-D137-F481BC5FB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Remote Procedure Call (RPC)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47F46-B799-F169-3293-0A407D4B8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Ideally, RPC makes a call to a remote function look the same as a local function call.</a:t>
            </a:r>
          </a:p>
          <a:p>
            <a:r>
              <a:rPr lang="en-US"/>
              <a:t>“Location transparency”: system hides where a resource is located.</a:t>
            </a:r>
          </a:p>
          <a:p>
            <a:endParaRPr lang="en-US"/>
          </a:p>
          <a:p>
            <a:r>
              <a:rPr lang="en-US"/>
              <a:t>In practice. . .</a:t>
            </a:r>
          </a:p>
          <a:p>
            <a:pPr lvl="1"/>
            <a:r>
              <a:rPr lang="en-US"/>
              <a:t>what if the service crashes during the function call?</a:t>
            </a:r>
          </a:p>
          <a:p>
            <a:pPr lvl="1"/>
            <a:r>
              <a:rPr lang="en-US"/>
              <a:t>what if a message is lost?</a:t>
            </a:r>
          </a:p>
          <a:p>
            <a:pPr lvl="1"/>
            <a:r>
              <a:rPr lang="en-US"/>
              <a:t>what if a message is delayed?</a:t>
            </a:r>
          </a:p>
          <a:p>
            <a:pPr lvl="1"/>
            <a:r>
              <a:rPr lang="en-US"/>
              <a:t>if something goes wrong, is it safe to retry?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1C996-118C-AAE5-0754-6DEA9F2FF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74953-90E3-8070-23AE-9E5E53719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78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3E4F2-61F9-9999-2253-5355CA03C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RPC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152ED-B4F1-CA44-D658-0B9A6A453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SunRPC</a:t>
            </a:r>
            <a:r>
              <a:rPr lang="en-US"/>
              <a:t>/ONC RPC (1980s, basis for NFS)</a:t>
            </a:r>
          </a:p>
          <a:p>
            <a:r>
              <a:rPr lang="en-US"/>
              <a:t>CORBA: object-oriented middleware, hot in the 1990s</a:t>
            </a:r>
          </a:p>
          <a:p>
            <a:r>
              <a:rPr lang="en-US"/>
              <a:t>Microsoft’s DCOM and Java RMI (similar to CORBA)</a:t>
            </a:r>
          </a:p>
          <a:p>
            <a:r>
              <a:rPr lang="en-US"/>
              <a:t>SOAP/XML-RPC: RPC using XML and HTTP (1998)</a:t>
            </a:r>
          </a:p>
          <a:p>
            <a:r>
              <a:rPr lang="en-US"/>
              <a:t>Thrift (Facebook, 2007)</a:t>
            </a:r>
          </a:p>
          <a:p>
            <a:r>
              <a:rPr lang="en-US" err="1"/>
              <a:t>gRPC</a:t>
            </a:r>
            <a:r>
              <a:rPr lang="en-US"/>
              <a:t> (Google, 2015)</a:t>
            </a:r>
          </a:p>
          <a:p>
            <a:r>
              <a:rPr lang="en-US"/>
              <a:t>REST (often with JSON)</a:t>
            </a:r>
          </a:p>
          <a:p>
            <a:r>
              <a:rPr lang="en-US"/>
              <a:t>Ajax in web browsers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E36E1-D882-11BF-D76D-E530AF0C2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AA7E2-14A7-5B1F-AD3F-1427CC4A9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02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72F8-5FFE-55C0-10CB-EF23FC4F4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RPC in enterprise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A2C3E-1E6E-99B2-04FE-34A33940E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“Service-oriented architecture” (SOA) / “microservices”:</a:t>
            </a:r>
          </a:p>
          <a:p>
            <a:pPr marL="0" indent="0">
              <a:buNone/>
            </a:pPr>
            <a:r>
              <a:rPr lang="en-US"/>
              <a:t>splitting a large software application into multiple services(on multiple nodes) that communicate via RPC.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Different services implemented in different languages:</a:t>
            </a:r>
          </a:p>
          <a:p>
            <a:r>
              <a:rPr lang="en-US"/>
              <a:t>interoperability: datatype conversions</a:t>
            </a:r>
          </a:p>
          <a:p>
            <a:r>
              <a:rPr lang="en-US"/>
              <a:t>Interface Definition Language (IDL):</a:t>
            </a:r>
            <a:br>
              <a:rPr lang="en-US"/>
            </a:br>
            <a:r>
              <a:rPr lang="en-US"/>
              <a:t>language-independent API specification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EDF0F4-30B4-EB01-D74D-859F143C8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852B5-F1A4-4C7D-F02F-D18AB76FE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70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6B3E-F5B5-029C-E471-E7C68335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gRPC</a:t>
            </a:r>
            <a:r>
              <a:rPr lang="en-US"/>
              <a:t> IDL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4666EF-3D64-54BF-D213-BA5A81969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4898" y="1846263"/>
            <a:ext cx="5158653" cy="402272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856FD-8B92-0BD6-49B2-9C0076DBC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D781F-26ED-5005-E3C3-4150F466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84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AFA4-D2CF-CDD7-8F91-E8CB4203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two generals problem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60CB893-ED9D-DB7C-1BD4-D92502307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7906" y="2057149"/>
            <a:ext cx="4572638" cy="360095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770B2-5518-4AD8-6F85-8BF7E986F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6C472-C5F9-E4EB-4F79-BE708E6A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5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5CE7B-4E98-CD32-1BBF-D45E6108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two generals problem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6B3357B-4BC2-23FE-00E2-06DEC88D7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099" y="1690689"/>
            <a:ext cx="5821801" cy="439792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ECF80-352B-7F6C-9E0C-CA445E6E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6E204-5C74-EE41-0917-611863100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86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7210F-352A-EE44-C6E3-F6528A1C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should the generals decide?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3E2FC-62B2-EE65-57B6-BED975023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1. General 1 always attacks, even if no response is received?</a:t>
            </a:r>
          </a:p>
          <a:p>
            <a:pPr lvl="1"/>
            <a:r>
              <a:rPr lang="en-US"/>
              <a:t>Send lots of messengers to increase probability that one will get through</a:t>
            </a:r>
          </a:p>
          <a:p>
            <a:pPr lvl="1"/>
            <a:r>
              <a:rPr lang="en-US"/>
              <a:t>If all are captured, general 2 does not know about the attack, so general 1 loses</a:t>
            </a:r>
          </a:p>
          <a:p>
            <a:pPr marL="0" indent="0">
              <a:buNone/>
            </a:pPr>
            <a:r>
              <a:rPr lang="en-US"/>
              <a:t>2. General 1 only attacks if positive response from general 2 is received?</a:t>
            </a:r>
          </a:p>
          <a:p>
            <a:pPr lvl="1"/>
            <a:r>
              <a:rPr lang="en-US"/>
              <a:t>Now general 1 is safe</a:t>
            </a:r>
          </a:p>
          <a:p>
            <a:pPr lvl="1"/>
            <a:r>
              <a:rPr lang="en-US"/>
              <a:t>But general 2 knows that general 1 will only attack if general 2’s response gets through</a:t>
            </a:r>
          </a:p>
          <a:p>
            <a:pPr lvl="1"/>
            <a:r>
              <a:rPr lang="en-US"/>
              <a:t>Now general 2 is in the same situation as general 1 in option 1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No common knowledge: the only way of knowing something is to communicate 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5DB8E-8408-CF7D-99C6-6A0BCB24E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C8776-818B-4DDD-5F02-1A6FEC37D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15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1B545-5292-1309-0F2A-CF7E90F80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two generals problem applied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2FA1E-F77C-D130-D483-1B54A9C96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Desired: online shop dispatches if and only if payment made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5275FE-311A-E7BC-63B7-0EABD15B1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B9F4A-80E7-1AD7-8571-0D953FC6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983B9E-24A5-08D7-9D22-BB0956E86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51" y="2492665"/>
            <a:ext cx="5156098" cy="344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944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8DB76-95D0-3118-17D0-A0CA1C31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Byzantine generals problem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FA095F-CC43-DF0B-1190-9E7ED54F1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141" y="1938070"/>
            <a:ext cx="6030167" cy="3839111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D3085-7BE5-CF13-508C-21A2ECF1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7EB50-2292-D630-88A1-BDD09AC24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46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2FF12-8FEE-B1F6-EDC8-67971874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Generals that might lie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6720D0-DE15-8785-6887-BEC36D00D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872" y="1690689"/>
            <a:ext cx="6420694" cy="456236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5D32E-AA43-96F5-7F22-FA8B8F58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693C80-8332-CFCB-6AD4-4FA24AA8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31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40FD-951C-6ED9-BBAC-40F864D8E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Byzantine generals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97BF-1EAD-3CBC-F453-F01009085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Up to f generals might behave maliciously</a:t>
            </a:r>
          </a:p>
          <a:p>
            <a:r>
              <a:rPr lang="en-US"/>
              <a:t>Honest generals don’t know who the malicious ones are</a:t>
            </a:r>
          </a:p>
          <a:p>
            <a:r>
              <a:rPr lang="en-US"/>
              <a:t>The malicious generals may collude</a:t>
            </a:r>
          </a:p>
          <a:p>
            <a:r>
              <a:rPr lang="en-US"/>
              <a:t>Nevertheless, honest generals must agree on plan </a:t>
            </a:r>
          </a:p>
          <a:p>
            <a:endParaRPr lang="en-US"/>
          </a:p>
          <a:p>
            <a:r>
              <a:rPr lang="en-US"/>
              <a:t>Theorem: need 3f + 1 generals in total to tolerate malicious generals (i.e. &lt; 13 may be malicious)</a:t>
            </a:r>
          </a:p>
          <a:p>
            <a:r>
              <a:rPr lang="en-US"/>
              <a:t>Cryptography (digital signatures) helps – but problem remains hard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AB9C3-0E6C-8DE6-EB9F-D2D540DB6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D097B-0A6C-E53E-7078-2D0508AC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25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3A5C-5101-2DCB-248C-F60E64AEA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Trust relationships and malicious </a:t>
            </a:r>
            <a:r>
              <a:rPr lang="en-US" err="1"/>
              <a:t>behaviour</a:t>
            </a:r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C6ED572-58BD-3FE5-7E7F-CD09F26027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4616" y="2614439"/>
            <a:ext cx="4239217" cy="248637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BA67B-C009-39FC-AF6D-AB3CBFC50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76A1B-810E-BE21-DC59-3E29DC76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74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90CA-C225-F9DD-619B-119DF3E1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63C3F-AE67-7DAE-9C59-44DD33630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have seen two thought experiments:</a:t>
            </a:r>
          </a:p>
          <a:p>
            <a:pPr lvl="1"/>
            <a:r>
              <a:rPr lang="en-US"/>
              <a:t>Two generals problem: a model of networks</a:t>
            </a:r>
          </a:p>
          <a:p>
            <a:pPr lvl="1"/>
            <a:r>
              <a:rPr lang="en-US"/>
              <a:t>Byzantine generals problem: a model of node </a:t>
            </a:r>
            <a:r>
              <a:rPr lang="en-US" err="1"/>
              <a:t>behaviour</a:t>
            </a:r>
            <a:endParaRPr lang="en-US"/>
          </a:p>
          <a:p>
            <a:r>
              <a:rPr lang="en-US"/>
              <a:t>In real systems, both nodes and networks may be faulty!</a:t>
            </a:r>
          </a:p>
          <a:p>
            <a:endParaRPr lang="en-US"/>
          </a:p>
          <a:p>
            <a:r>
              <a:rPr lang="en-US"/>
              <a:t>Capture assumptions in a system model consisting of:</a:t>
            </a:r>
          </a:p>
          <a:p>
            <a:pPr lvl="1"/>
            <a:r>
              <a:rPr lang="en-US"/>
              <a:t>Network </a:t>
            </a:r>
            <a:r>
              <a:rPr lang="en-US" err="1"/>
              <a:t>behaviour</a:t>
            </a:r>
            <a:r>
              <a:rPr lang="en-US"/>
              <a:t> (e.g. message loss)</a:t>
            </a:r>
          </a:p>
          <a:p>
            <a:pPr lvl="1"/>
            <a:r>
              <a:rPr lang="en-US"/>
              <a:t>Node </a:t>
            </a:r>
            <a:r>
              <a:rPr lang="en-US" err="1"/>
              <a:t>behaviour</a:t>
            </a:r>
            <a:r>
              <a:rPr lang="en-US"/>
              <a:t> (e.g. crashes)</a:t>
            </a:r>
          </a:p>
          <a:p>
            <a:pPr lvl="1"/>
            <a:r>
              <a:rPr lang="en-US"/>
              <a:t>Timing </a:t>
            </a:r>
            <a:r>
              <a:rPr lang="en-US" err="1"/>
              <a:t>behaviour</a:t>
            </a:r>
            <a:r>
              <a:rPr lang="en-US"/>
              <a:t> (e.g. latency)</a:t>
            </a:r>
          </a:p>
          <a:p>
            <a:r>
              <a:rPr lang="en-US"/>
              <a:t>Choice of models for each of these parts.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AEFDC-9227-A384-853B-4EACF6B5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18057-1BF9-B80D-5E01-23426131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07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A2E85-32D5-C6DC-E54B-2AE6D81D1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Networks are unreliable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6BAAB-26AA-F7BD-1170-DBB6B211C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the sea, </a:t>
            </a:r>
          </a:p>
          <a:p>
            <a:r>
              <a:rPr lang="en-US"/>
              <a:t>sharks bite </a:t>
            </a:r>
            <a:r>
              <a:rPr lang="en-US" err="1"/>
              <a:t>fibre</a:t>
            </a:r>
            <a:r>
              <a:rPr lang="en-US"/>
              <a:t> optic cables </a:t>
            </a:r>
            <a:r>
              <a:rPr lang="en-US">
                <a:hlinkClick r:id="rId2"/>
              </a:rPr>
              <a:t>https://slate.com/technology/2014/08/shark-attacks-threaten-google-s-undersea-internet-cables-video.html</a:t>
            </a:r>
            <a:endParaRPr lang="en-US"/>
          </a:p>
          <a:p>
            <a:endParaRPr lang="en-US"/>
          </a:p>
          <a:p>
            <a:r>
              <a:rPr lang="en-US"/>
              <a:t>On land, </a:t>
            </a:r>
          </a:p>
          <a:p>
            <a:pPr lvl="1"/>
            <a:r>
              <a:rPr lang="en-US"/>
              <a:t>cows step on the cables</a:t>
            </a:r>
            <a:br>
              <a:rPr lang="en-US"/>
            </a:br>
            <a:r>
              <a:rPr lang="en-US">
                <a:hlinkClick r:id="rId3"/>
              </a:rPr>
              <a:t>https://twitter.com/uhoelzle/status/1263333283107991558</a:t>
            </a:r>
            <a:endParaRPr lang="en-US"/>
          </a:p>
          <a:p>
            <a:pPr lvl="1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E27EBB-BA32-E960-0796-0919354C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DCCC5-C2CA-C0E8-04D3-7739CE5C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714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9137-60FA-E5A2-E8CC-62B503EC4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model: network </a:t>
            </a:r>
            <a:r>
              <a:rPr lang="en-US" err="1"/>
              <a:t>behaviour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D59CC-9CA4-E54C-C1C4-CDD37016A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Assume bidirectional point-to-point communication between two nodes, with one of:</a:t>
            </a:r>
          </a:p>
          <a:p>
            <a:r>
              <a:rPr lang="en-US" b="1"/>
              <a:t>Reliable</a:t>
            </a:r>
            <a:r>
              <a:rPr lang="en-US"/>
              <a:t> (perfect) links: </a:t>
            </a:r>
          </a:p>
          <a:p>
            <a:pPr lvl="1"/>
            <a:r>
              <a:rPr lang="en-US"/>
              <a:t>A message is received if and only if it is sent.</a:t>
            </a:r>
          </a:p>
          <a:p>
            <a:pPr lvl="1"/>
            <a:r>
              <a:rPr lang="en-US"/>
              <a:t>Messages may be reordered.</a:t>
            </a:r>
          </a:p>
          <a:p>
            <a:r>
              <a:rPr lang="en-US" b="1"/>
              <a:t>Fair-loss</a:t>
            </a:r>
            <a:r>
              <a:rPr lang="en-US"/>
              <a:t> links:</a:t>
            </a:r>
          </a:p>
          <a:p>
            <a:pPr lvl="1"/>
            <a:r>
              <a:rPr lang="en-US"/>
              <a:t>Messages may be lost, duplicated, or reordered.</a:t>
            </a:r>
          </a:p>
          <a:p>
            <a:pPr lvl="1"/>
            <a:r>
              <a:rPr lang="en-US"/>
              <a:t>If you keep retrying, a message eventually gets through.</a:t>
            </a:r>
          </a:p>
          <a:p>
            <a:r>
              <a:rPr lang="en-US" b="1"/>
              <a:t>Arbitrary</a:t>
            </a:r>
            <a:r>
              <a:rPr lang="en-US"/>
              <a:t> links (active adversary):</a:t>
            </a:r>
          </a:p>
          <a:p>
            <a:pPr lvl="1"/>
            <a:r>
              <a:rPr lang="en-US"/>
              <a:t>A malicious adversary may interfere with messages(eavesdrop, modify, drop, spoof, replay).</a:t>
            </a:r>
          </a:p>
          <a:p>
            <a:pPr lvl="1"/>
            <a:endParaRPr lang="en-US"/>
          </a:p>
          <a:p>
            <a:r>
              <a:rPr lang="en-US"/>
              <a:t>Network partition: some links dropping/delaying all messages for extended period of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53004-5DA2-E5EF-6012-7183857A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05916-4AF0-38D6-254B-7B3D7E69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0C3DA-83B1-2387-F9DD-B37E435A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model: node </a:t>
            </a:r>
            <a:r>
              <a:rPr lang="en-US" err="1"/>
              <a:t>behaviour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AB7C2-EAC6-FA8A-2035-A1B61372E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Each node executes a specified algorithm, assuming one of the following:</a:t>
            </a:r>
          </a:p>
          <a:p>
            <a:r>
              <a:rPr lang="en-US" b="1"/>
              <a:t>Crash-stop</a:t>
            </a:r>
            <a:r>
              <a:rPr lang="en-US"/>
              <a:t> (fail-stop):</a:t>
            </a:r>
          </a:p>
          <a:p>
            <a:pPr lvl="1"/>
            <a:r>
              <a:rPr lang="en-US"/>
              <a:t>A node is faulty if it crashes (at any moment). After crashing, it stops executing forever.</a:t>
            </a:r>
          </a:p>
          <a:p>
            <a:r>
              <a:rPr lang="en-US" b="1"/>
              <a:t>Crash-recovery</a:t>
            </a:r>
            <a:r>
              <a:rPr lang="en-US"/>
              <a:t> (fail-recovery):</a:t>
            </a:r>
          </a:p>
          <a:p>
            <a:pPr lvl="1"/>
            <a:r>
              <a:rPr lang="en-US"/>
              <a:t>A node may crash at any moment, losing its in-memory state. It may resume executing sometime later.</a:t>
            </a:r>
          </a:p>
          <a:p>
            <a:r>
              <a:rPr lang="en-US" b="1"/>
              <a:t>Byzantine</a:t>
            </a:r>
            <a:r>
              <a:rPr lang="en-US"/>
              <a:t> (fail-arbitrary):</a:t>
            </a:r>
          </a:p>
          <a:p>
            <a:pPr lvl="1"/>
            <a:r>
              <a:rPr lang="en-US"/>
              <a:t>A node is faulty if it deviates from the algorithm.</a:t>
            </a:r>
          </a:p>
          <a:p>
            <a:pPr lvl="1"/>
            <a:r>
              <a:rPr lang="en-US"/>
              <a:t>Faulty nodes may do anything, including crashing or malicious </a:t>
            </a:r>
            <a:r>
              <a:rPr lang="en-US" err="1"/>
              <a:t>behaviour</a:t>
            </a:r>
            <a:r>
              <a:rPr lang="en-US"/>
              <a:t>.</a:t>
            </a:r>
          </a:p>
          <a:p>
            <a:pPr lvl="1"/>
            <a:endParaRPr lang="en-US"/>
          </a:p>
          <a:p>
            <a:r>
              <a:rPr lang="en-US"/>
              <a:t>A node that is not faulty is called “correct”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86BC5-FD70-39F8-C367-5A4E5CBA5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DD7FE1-AC1E-7B02-7756-49F0F93B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82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83ED-2576-B974-2CB7-859B64CE9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model: synchrony (timing)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7021C-432F-6FF1-9324-8D048493C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Assume one of the following for network and nodes:</a:t>
            </a:r>
          </a:p>
          <a:p>
            <a:r>
              <a:rPr lang="en-US"/>
              <a:t>Synchronous:</a:t>
            </a:r>
          </a:p>
          <a:p>
            <a:pPr lvl="1"/>
            <a:r>
              <a:rPr lang="en-US"/>
              <a:t>Message latency no greater than a known upper bound.</a:t>
            </a:r>
          </a:p>
          <a:p>
            <a:pPr lvl="1"/>
            <a:r>
              <a:rPr lang="en-US"/>
              <a:t>Nodes execute algorithm at a known speed.</a:t>
            </a:r>
          </a:p>
          <a:p>
            <a:r>
              <a:rPr lang="en-US"/>
              <a:t>Partially synchronous:</a:t>
            </a:r>
          </a:p>
          <a:p>
            <a:pPr lvl="1"/>
            <a:r>
              <a:rPr lang="en-US"/>
              <a:t>The system is asynchronous for some finite (but unknown) periods of time, synchronous otherwise.</a:t>
            </a:r>
          </a:p>
          <a:p>
            <a:r>
              <a:rPr lang="en-US"/>
              <a:t>Asynchronous:</a:t>
            </a:r>
          </a:p>
          <a:p>
            <a:pPr lvl="1"/>
            <a:r>
              <a:rPr lang="en-US"/>
              <a:t>Messages can be delayed arbitrarily. </a:t>
            </a:r>
          </a:p>
          <a:p>
            <a:pPr lvl="1"/>
            <a:r>
              <a:rPr lang="en-US"/>
              <a:t>Nodes can pause execution arbitrarily.</a:t>
            </a:r>
          </a:p>
          <a:p>
            <a:pPr lvl="1"/>
            <a:r>
              <a:rPr lang="en-US"/>
              <a:t>No timing guarantees at all.</a:t>
            </a:r>
          </a:p>
          <a:p>
            <a:r>
              <a:rPr lang="en-US"/>
              <a:t>Note: other parts of computer science use the </a:t>
            </a:r>
            <a:r>
              <a:rPr lang="en-US" err="1"/>
              <a:t>terms“synchronous</a:t>
            </a:r>
            <a:r>
              <a:rPr lang="en-US"/>
              <a:t>” and “asynchronous” differently.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BBA01B-690A-A9BB-9150-02BBE017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CB9A11-6088-C8C2-9C3A-59C628289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70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949D7-0601-75AA-D40B-7C8852F0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Violations of synchrony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C4ABD-034D-0D57-5742-C5297E961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Networks usually have quite predictable latency, which can occasionally increase:</a:t>
            </a:r>
          </a:p>
          <a:p>
            <a:pPr lvl="1"/>
            <a:r>
              <a:rPr lang="en-US"/>
              <a:t>Message loss requiring retry</a:t>
            </a:r>
          </a:p>
          <a:p>
            <a:pPr lvl="1"/>
            <a:r>
              <a:rPr lang="en-US"/>
              <a:t>Congestion/contention causing queueing</a:t>
            </a:r>
          </a:p>
          <a:p>
            <a:pPr lvl="1"/>
            <a:r>
              <a:rPr lang="en-US"/>
              <a:t>Network/route reconfiguration</a:t>
            </a:r>
          </a:p>
          <a:p>
            <a:pPr lvl="1"/>
            <a:endParaRPr lang="en-US"/>
          </a:p>
          <a:p>
            <a:r>
              <a:rPr lang="en-US"/>
              <a:t>Nodes usually execute code at a predictable speed, with occasional pauses:</a:t>
            </a:r>
          </a:p>
          <a:p>
            <a:pPr lvl="1"/>
            <a:r>
              <a:rPr lang="en-US"/>
              <a:t>Operating system scheduling issues, e.g. priority inversion</a:t>
            </a:r>
          </a:p>
          <a:p>
            <a:pPr lvl="1"/>
            <a:r>
              <a:rPr lang="en-US"/>
              <a:t>Stop-the-world garbage collection pauses</a:t>
            </a:r>
          </a:p>
          <a:p>
            <a:pPr lvl="1"/>
            <a:r>
              <a:rPr lang="en-US"/>
              <a:t>Page faults, swap, thrashing</a:t>
            </a:r>
          </a:p>
          <a:p>
            <a:r>
              <a:rPr lang="en-US"/>
              <a:t>Real-time operating systems (RTOS) provide scheduling guarantees, but most distributed systems do not use RTOS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0080E-A8C4-9341-6B10-AB99B508C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966B9-07CD-F71C-F940-753C7500C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7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AF4B2-0A9F-A7DF-4C06-15F648B6A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models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1FC3B-2D53-4AAB-D434-CBBA23011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each of the three parts, pick one:</a:t>
            </a:r>
          </a:p>
          <a:p>
            <a:r>
              <a:rPr lang="en-US"/>
              <a:t>Network:</a:t>
            </a:r>
            <a:br>
              <a:rPr lang="en-US"/>
            </a:br>
            <a:r>
              <a:rPr lang="en-US"/>
              <a:t>reliable, fair-loss, or arbitrary</a:t>
            </a:r>
          </a:p>
          <a:p>
            <a:r>
              <a:rPr lang="en-US"/>
              <a:t>Nodes:</a:t>
            </a:r>
            <a:br>
              <a:rPr lang="en-US"/>
            </a:br>
            <a:r>
              <a:rPr lang="en-US"/>
              <a:t>crash-stop, crash-recovery, or Byzantine</a:t>
            </a:r>
          </a:p>
          <a:p>
            <a:r>
              <a:rPr lang="en-US"/>
              <a:t>Timing:</a:t>
            </a:r>
            <a:br>
              <a:rPr lang="en-US"/>
            </a:br>
            <a:r>
              <a:rPr lang="en-US"/>
              <a:t>synchronous, partially synchronous, or asynchronous</a:t>
            </a:r>
          </a:p>
          <a:p>
            <a:endParaRPr lang="en-US"/>
          </a:p>
          <a:p>
            <a:r>
              <a:rPr lang="en-US"/>
              <a:t>This is the basis for any distributed algorithm. If your assumptions are wrong, all bets are off!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F2EBA3-A280-E5C9-B6F9-367189983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E397E-AA4F-788C-C4F4-E98306CD4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948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BE0B-CECF-DA50-E497-4018C02F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429C5-F8DA-85A2-9D7F-13A4144A1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Today’s lecture is based on lecture on Martin </a:t>
            </a:r>
            <a:r>
              <a:rPr lang="en-US" err="1"/>
              <a:t>Kleppmann’s</a:t>
            </a:r>
            <a:r>
              <a:rPr lang="en-US"/>
              <a:t> Distributed System Lecture Series</a:t>
            </a:r>
            <a:endParaRPr lang="en-US" b="0" i="0">
              <a:solidFill>
                <a:srgbClr val="212529"/>
              </a:solidFill>
              <a:effectLst/>
              <a:latin typeface="-apple-system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912EF-573F-8AF3-8525-E6C7C5E9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F61B2-C9F9-12CA-BD55-FE6141E0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381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FABEA-B6E0-9AF1-EE65-0841718DA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AD9F-09B6-DB23-F5ED-0F1316E97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65A94-D19B-F8FA-F24D-A5E75AD42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Logical Clocks</a:t>
            </a:r>
          </a:p>
          <a:p>
            <a:pPr lvl="1"/>
            <a:r>
              <a:rPr lang="en-US" err="1"/>
              <a:t>Lamport</a:t>
            </a:r>
            <a:r>
              <a:rPr lang="en-US"/>
              <a:t> Clocks</a:t>
            </a:r>
          </a:p>
          <a:p>
            <a:pPr lvl="1"/>
            <a:r>
              <a:rPr lang="en-US"/>
              <a:t>Vector Clocks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0FA2F-A4C9-FC2A-A503-773A8959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3218B-2EE8-14EB-6C29-22BD556C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192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FFD2-698F-C908-72AB-F63A4D6E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Detective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6E93B-293D-3833-2ABF-116CFF96B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30 June – 1 July 2012, midnight UTC</a:t>
            </a:r>
          </a:p>
          <a:p>
            <a:r>
              <a:rPr lang="en-US"/>
              <a:t>Hundreds of services crashed simultaneously.</a:t>
            </a:r>
          </a:p>
          <a:p>
            <a:r>
              <a:rPr lang="en-US"/>
              <a:t>Airlines couldn't process reservations for hours.</a:t>
            </a:r>
          </a:p>
          <a:p>
            <a:r>
              <a:rPr lang="en-US"/>
              <a:t>Reddit, LinkedIn, Mozilla, Yelp — all went down.</a:t>
            </a:r>
          </a:p>
          <a:p>
            <a:r>
              <a:rPr lang="en-US"/>
              <a:t>A reboot didn't fix it. Setting the system clock did.</a:t>
            </a:r>
          </a:p>
          <a:p>
            <a:endParaRPr lang="en-US"/>
          </a:p>
          <a:p>
            <a:endParaRPr lang="en-US" b="1"/>
          </a:p>
          <a:p>
            <a:r>
              <a:rPr lang="en-US" b="1"/>
              <a:t>What caused a simultaneous global outage?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C8974-64BF-89DF-07E3-174F57A88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54341-0DA6-5019-BF7A-655F2D0B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348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CB811-2060-976B-598A-2BE3B2C4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Logical vs. physical clocks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AD71A-AF12-75FF-A708-6B6007FEC5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Physical clock: count number of seconds elapsed</a:t>
                </a:r>
              </a:p>
              <a:p>
                <a:r>
                  <a:rPr lang="en-US"/>
                  <a:t>Logical clock: count number of events occurred</a:t>
                </a:r>
              </a:p>
              <a:p>
                <a:endParaRPr lang="en-US"/>
              </a:p>
              <a:p>
                <a:r>
                  <a:rPr lang="en-US"/>
                  <a:t>Physical timestamps: useful for many things but may be </a:t>
                </a:r>
                <a:r>
                  <a:rPr lang="en-US" b="1"/>
                  <a:t>inconsistent with causality</a:t>
                </a:r>
                <a:r>
                  <a:rPr lang="en-US"/>
                  <a:t>.</a:t>
                </a:r>
              </a:p>
              <a:p>
                <a:endParaRPr lang="en-US"/>
              </a:p>
              <a:p>
                <a:r>
                  <a:rPr lang="en-US"/>
                  <a:t>Logical clocks: designed to </a:t>
                </a:r>
                <a:r>
                  <a:rPr lang="en-US" b="1"/>
                  <a:t>capture causal dependencies</a:t>
                </a:r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AD71A-AF12-75FF-A708-6B6007FEC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8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7C430-F1F5-0331-5773-8D2E4B69A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F12B06-171F-9DEC-A9AF-537656961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484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DCD7-DA40-E047-B678-3C58BB3B0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Physical Clocks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D244E-D202-616B-7048-73FB65E2E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Quartz Clock</a:t>
            </a:r>
          </a:p>
          <a:p>
            <a:pPr lvl="1"/>
            <a:r>
              <a:rPr lang="en-US"/>
              <a:t>Vibrating crystal oscillates at a fixed frequency</a:t>
            </a:r>
          </a:p>
          <a:p>
            <a:pPr lvl="1"/>
            <a:r>
              <a:rPr lang="en-US"/>
              <a:t>Found in every phone, PC, and microwave</a:t>
            </a:r>
          </a:p>
          <a:p>
            <a:pPr lvl="1"/>
            <a:r>
              <a:rPr lang="en-US"/>
              <a:t>Drift: ~50 ppm = 4.3 s/day</a:t>
            </a:r>
          </a:p>
          <a:p>
            <a:r>
              <a:rPr lang="en-US"/>
              <a:t>Atomic Clock</a:t>
            </a:r>
          </a:p>
          <a:p>
            <a:pPr lvl="1"/>
            <a:r>
              <a:rPr lang="en-US"/>
              <a:t>Caesium-133 resonance at ~9.2 GHz</a:t>
            </a:r>
          </a:p>
          <a:p>
            <a:pPr lvl="1"/>
            <a:r>
              <a:rPr lang="en-US"/>
              <a:t>1 second = 9,192,631,770 cycles</a:t>
            </a:r>
          </a:p>
          <a:p>
            <a:pPr lvl="1"/>
            <a:r>
              <a:rPr lang="en-US"/>
              <a:t>Accuracy: 1 sec in 3 million years  |  Cost: ~£20k</a:t>
            </a:r>
          </a:p>
          <a:p>
            <a:pPr lvl="1"/>
            <a:endParaRPr lang="en-US"/>
          </a:p>
          <a:p>
            <a:r>
              <a:rPr lang="en-US"/>
              <a:t>GPS/GNSS</a:t>
            </a:r>
          </a:p>
          <a:p>
            <a:pPr lvl="1"/>
            <a:r>
              <a:rPr lang="en-US"/>
              <a:t>31 satellites with atomic clocks broadcast precise time. Datacenter antennas achieve sub-microsecond accuracy.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44F50-5E90-BE9C-ECAE-A8AEC4905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11019-1636-05F7-D673-8BA6AF2B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897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9F17-4834-EEBD-E16D-72CB7FD8F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UTC &amp; The Leap Second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378FB-C008-985D-3288-4A4E46755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International Atomic Time (TAI) — pure atomic clock time</a:t>
            </a:r>
          </a:p>
          <a:p>
            <a:r>
              <a:rPr lang="en-US"/>
              <a:t>Mean solar time (UT1) — based on Earth's rotation</a:t>
            </a:r>
          </a:p>
          <a:p>
            <a:r>
              <a:rPr lang="en-US"/>
              <a:t>UTC – TAI + leap second corrections — our global standard</a:t>
            </a:r>
          </a:p>
          <a:p>
            <a:endParaRPr lang="en-US"/>
          </a:p>
          <a:p>
            <a:r>
              <a:rPr lang="en-US"/>
              <a:t>Leap Seconds</a:t>
            </a:r>
          </a:p>
          <a:p>
            <a:pPr lvl="1"/>
            <a:r>
              <a:rPr lang="en-US"/>
              <a:t>Added (or rarely removed) on June 30 or Dec 31 at 23:59:59 UTC</a:t>
            </a:r>
          </a:p>
          <a:p>
            <a:pPr lvl="1"/>
            <a:r>
              <a:rPr lang="en-US"/>
              <a:t>27 leap seconds added since 1972 — Earth is slowing down!</a:t>
            </a:r>
          </a:p>
          <a:p>
            <a:pPr lvl="1"/>
            <a:r>
              <a:rPr lang="en-US"/>
              <a:t>Unix time ignores leap seconds — software that assumes 86,400 s/day can break</a:t>
            </a:r>
          </a:p>
          <a:p>
            <a:pPr lvl="1"/>
            <a:r>
              <a:rPr lang="en-US"/>
              <a:t>2012 incident: a Linux kernel bug triggered by the leap second caused a </a:t>
            </a:r>
            <a:r>
              <a:rPr lang="en-US" err="1"/>
              <a:t>livelock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B53C4-15F7-CDF1-F7D6-440CF7B94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40EE6-9676-9B90-0EBD-768A2F4F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422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F8B5-36AC-D48E-D78E-5D6E8687E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Lamport</a:t>
            </a:r>
            <a:r>
              <a:rPr lang="en-US"/>
              <a:t> clocks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35B678-8103-FFAE-0C5B-984EF6B82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/>
                  <a:t>on </a:t>
                </a:r>
                <a:r>
                  <a:rPr lang="en-US" err="1"/>
                  <a:t>initialisation</a:t>
                </a:r>
                <a:r>
                  <a:rPr lang="en-US"/>
                  <a:t> do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/>
                  <a:t>	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≔0</m:t>
                    </m:r>
                  </m:oMath>
                </a14:m>
                <a:r>
                  <a:rPr lang="en-US"/>
                  <a:t> 		Each node has its own local variable t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/>
                  <a:t>end on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US"/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/>
                  <a:t>on any event at the local node do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/>
                  <a:t>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/>
                  <a:t> 	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/>
                  <a:t>end on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US"/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/>
                  <a:t>on request to send message m do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/>
                  <a:t>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/>
                  <a:t>; send (t, m) via the underlying network link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/>
                  <a:t>end on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US"/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/>
                  <a:t>on receiving (t', m) via the underlying network link do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/>
                  <a:t>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/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/>
                  <a:t>	deliver m to the application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/>
                  <a:t>end 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35B678-8103-FFAE-0C5B-984EF6B82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4" t="-1667" b="-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B7F09-6C95-B85E-681B-6BFC2F0A4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407F30-C69A-724D-1855-13C8E346B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379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026E6-52CD-6650-71CD-FD26F7F9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Lamport</a:t>
            </a:r>
            <a:r>
              <a:rPr lang="en-US"/>
              <a:t> clocks in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D4D1E-7C26-B444-2BE1-B95DD193F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/>
              <a:t>Each node maintains a counter t, incremented on every local event c</a:t>
            </a:r>
          </a:p>
          <a:p>
            <a:pPr lvl="1"/>
            <a:r>
              <a:rPr lang="en-US"/>
              <a:t>Let L(e) be the value of t after that increment</a:t>
            </a:r>
          </a:p>
          <a:p>
            <a:pPr lvl="1"/>
            <a:r>
              <a:rPr lang="en-US"/>
              <a:t>Attach current t to messages sent over network</a:t>
            </a:r>
          </a:p>
          <a:p>
            <a:pPr lvl="1"/>
            <a:r>
              <a:rPr lang="en-US"/>
              <a:t>Recipient moves its clock forward to timestamp in the message (if greater than local counter), then increments</a:t>
            </a:r>
          </a:p>
          <a:p>
            <a:r>
              <a:rPr lang="en-US"/>
              <a:t>Properties of this scheme:</a:t>
            </a:r>
          </a:p>
          <a:p>
            <a:r>
              <a:rPr lang="en-US"/>
              <a:t>If a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b then L(a) &lt; L(b)</a:t>
            </a:r>
          </a:p>
          <a:p>
            <a:r>
              <a:rPr lang="en-US"/>
              <a:t>However, L(a) &lt; L(b) does not imply a —+ b</a:t>
            </a:r>
          </a:p>
          <a:p>
            <a:r>
              <a:rPr lang="en-US"/>
              <a:t>Possible that L(a) = L(b) for a  ≠ 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C29223-6D08-6F52-037D-8624CB572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2DC08-6801-C89D-667C-A195987D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40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2FB4-B8CE-539A-6A69-B52F4C512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Happens-Before 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7D496-5D7E-45A0-D435-776010688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→ b  means "a happened before b“</a:t>
            </a:r>
          </a:p>
          <a:p>
            <a:r>
              <a:rPr lang="en-US"/>
              <a:t>Same node</a:t>
            </a:r>
          </a:p>
          <a:p>
            <a:pPr lvl="1"/>
            <a:r>
              <a:rPr lang="en-US"/>
              <a:t>If a and b are on the same node and a occurs before b in program order, then a </a:t>
            </a:r>
            <a:r>
              <a:rPr lang="en-US" sz="20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/>
              <a:t>b</a:t>
            </a:r>
          </a:p>
          <a:p>
            <a:r>
              <a:rPr lang="en-US"/>
              <a:t>Message passing</a:t>
            </a:r>
          </a:p>
          <a:p>
            <a:pPr lvl="1"/>
            <a:r>
              <a:rPr lang="en-US"/>
              <a:t>If a = send(m) and b = </a:t>
            </a:r>
            <a:r>
              <a:rPr lang="en-US" err="1"/>
              <a:t>recv</a:t>
            </a:r>
            <a:r>
              <a:rPr lang="en-US"/>
              <a:t>(m) for the same message, then a</a:t>
            </a:r>
            <a:r>
              <a:rPr lang="en-US" sz="20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r>
              <a:rPr lang="en-US"/>
              <a:t> b</a:t>
            </a:r>
          </a:p>
          <a:p>
            <a:r>
              <a:rPr lang="en-US"/>
              <a:t>Transitivity</a:t>
            </a:r>
          </a:p>
          <a:p>
            <a:pPr lvl="1"/>
            <a:r>
              <a:rPr lang="en-US"/>
              <a:t>If a → b and b → c, then a → c</a:t>
            </a:r>
          </a:p>
          <a:p>
            <a:pPr lvl="1"/>
            <a:endParaRPr lang="en-US"/>
          </a:p>
          <a:p>
            <a:r>
              <a:rPr lang="en-US"/>
              <a:t>Concurrent:  a ∥ b   if neither a → b  nor  b → a  (no causal relationship)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7E67B6-E610-A1A6-F6B8-54F5C00A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9D17E-C47C-646E-B8C2-089C7296A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569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BB81F-A876-75F3-2531-98AA12F9B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Lamport</a:t>
            </a:r>
            <a:r>
              <a:rPr lang="en-US"/>
              <a:t> clocks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B6AC1-C8BE-9F94-FB0F-85242FD42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Let N (e) be the node at which event e occurred.</a:t>
            </a:r>
          </a:p>
          <a:p>
            <a:pPr marL="0" indent="0">
              <a:buNone/>
            </a:pPr>
            <a:r>
              <a:rPr lang="en-US"/>
              <a:t>Then the pair (L(e), N (e)) uniquely identifies event e.</a:t>
            </a:r>
          </a:p>
          <a:p>
            <a:r>
              <a:rPr lang="en-US"/>
              <a:t>Define a total order ≺ using </a:t>
            </a:r>
            <a:r>
              <a:rPr lang="en-US" err="1"/>
              <a:t>Lamport</a:t>
            </a:r>
            <a:r>
              <a:rPr lang="en-US"/>
              <a:t> timestamps:</a:t>
            </a:r>
            <a:br>
              <a:rPr lang="en-US"/>
            </a:br>
            <a:r>
              <a:rPr lang="en-US"/>
              <a:t>(a ≺ b) ⇐⇒ </a:t>
            </a:r>
            <a:r>
              <a:rPr lang="pt-BR"/>
              <a:t>(L(a) &lt; L(b) ∨ (L(a) = L(b) ∧ N (a) &lt; N (b)))</a:t>
            </a:r>
            <a:endParaRPr lang="en-US"/>
          </a:p>
          <a:p>
            <a:r>
              <a:rPr lang="en-US"/>
              <a:t>This order is causal</a:t>
            </a:r>
            <a:r>
              <a:rPr lang="en-US">
                <a:sym typeface="Wingdings" panose="05000000000000000000" pitchFamily="2" charset="2"/>
              </a:rPr>
              <a:t>: ( a  b) =⇒  (a ≺ b)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E4B956-2015-F135-A7BF-BF08E0146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F6C64-D711-E09F-0A79-42AE780F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41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E96F60-37A8-0851-9CB1-985521351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548" y="1533975"/>
            <a:ext cx="6658904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689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88F6-56AD-24A6-9A1A-D13A83A2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44445-CF29-45EB-A095-2596141FB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Given the sequence of messages in the following execution, show the </a:t>
            </a:r>
            <a:r>
              <a:rPr lang="en-US" err="1"/>
              <a:t>Lamport</a:t>
            </a:r>
            <a:r>
              <a:rPr lang="en-US"/>
              <a:t> timestamps at each send or receive event.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18319F-7D1D-BA2E-7533-FFB4C5025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5982C-BE3D-3B80-71EC-78A7566DF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42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F8DD1D-8FA2-4C51-11C9-96E1A81F8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786" y="2865757"/>
            <a:ext cx="4858428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647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A927-2650-822D-EB2D-359561E0D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83B1F-3CE1-644F-7A71-50C9CE2B2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Given the </a:t>
            </a:r>
            <a:r>
              <a:rPr lang="en-US" err="1"/>
              <a:t>Lamport</a:t>
            </a:r>
            <a:r>
              <a:rPr lang="en-US"/>
              <a:t> timestamps of two events, is it possible to tell whether those events are concurrent or whether one happened before the other?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5A082-3107-0467-8F93-A6347431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4C2B5-89B3-1086-0BEF-CD682C90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650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0CD96-A6EB-EB09-E84C-473C62FD5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Clocks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BED2D-BBE6-80D0-5314-02A40F1FB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Given </a:t>
            </a:r>
            <a:r>
              <a:rPr lang="en-US" err="1"/>
              <a:t>Lamport</a:t>
            </a:r>
            <a:r>
              <a:rPr lang="en-US"/>
              <a:t> timestamps L(a) and L(b) with L(a) &lt; L(b) we can’t tell whether a → b or a ‖ b.</a:t>
            </a:r>
          </a:p>
          <a:p>
            <a:r>
              <a:rPr lang="en-US"/>
              <a:t>If we want to detect which events are concurrent, we need vector clocks:</a:t>
            </a:r>
          </a:p>
          <a:p>
            <a:pPr lvl="1"/>
            <a:r>
              <a:rPr lang="en-US"/>
              <a:t>Assume n nodes in the system, N = 〈N1, N2, . . . , </a:t>
            </a:r>
            <a:r>
              <a:rPr lang="en-US" err="1"/>
              <a:t>Nn</a:t>
            </a:r>
            <a:r>
              <a:rPr lang="en-US"/>
              <a:t>〉</a:t>
            </a:r>
          </a:p>
          <a:p>
            <a:pPr lvl="1"/>
            <a:r>
              <a:rPr lang="en-US"/>
              <a:t>Vector timestamp of event a is V (a) =〈t1, t2, . . . , </a:t>
            </a:r>
            <a:r>
              <a:rPr lang="en-US" err="1"/>
              <a:t>tn</a:t>
            </a:r>
            <a:r>
              <a:rPr lang="en-US"/>
              <a:t>〉</a:t>
            </a:r>
          </a:p>
          <a:p>
            <a:pPr lvl="1"/>
            <a:r>
              <a:rPr lang="en-US" err="1"/>
              <a:t>ti</a:t>
            </a:r>
            <a:r>
              <a:rPr lang="en-US"/>
              <a:t> is number of events observed by node Ni</a:t>
            </a:r>
          </a:p>
          <a:p>
            <a:pPr lvl="1"/>
            <a:r>
              <a:rPr lang="en-US"/>
              <a:t>Each node has a current vector timestamp T</a:t>
            </a:r>
          </a:p>
          <a:p>
            <a:pPr lvl="1"/>
            <a:r>
              <a:rPr lang="en-US"/>
              <a:t>On event at node Ni, increment vector element T [i]</a:t>
            </a:r>
          </a:p>
          <a:p>
            <a:pPr lvl="1"/>
            <a:r>
              <a:rPr lang="en-US"/>
              <a:t>Attach current vector timestamp to each message</a:t>
            </a:r>
          </a:p>
          <a:p>
            <a:pPr lvl="1"/>
            <a:r>
              <a:rPr lang="en-US"/>
              <a:t>Recipient merges message vector into its local vector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FEF491-346C-8050-360E-5B1DBFE7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447F5-2003-B4B6-5555-FB1483AC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193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6A4BC-9816-6E88-E506-D067DA70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Clocks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B1A7D-7D99-EB5E-5CE7-21DFCF0BD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on </a:t>
            </a:r>
            <a:r>
              <a:rPr lang="en-US" err="1"/>
              <a:t>initialisation</a:t>
            </a:r>
            <a:r>
              <a:rPr lang="en-US"/>
              <a:t> at node Ni do</a:t>
            </a:r>
            <a:br>
              <a:rPr lang="en-US"/>
            </a:br>
            <a:r>
              <a:rPr lang="en-US"/>
              <a:t>	T := 〈0, 0, . . . , 0〉 	local variable at node Ni</a:t>
            </a:r>
            <a:br>
              <a:rPr lang="en-US"/>
            </a:br>
            <a:r>
              <a:rPr lang="en-US"/>
              <a:t>end on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/>
              <a:t>on any event occurring at node Ni do</a:t>
            </a:r>
            <a:br>
              <a:rPr lang="en-US"/>
            </a:br>
            <a:r>
              <a:rPr lang="en-US"/>
              <a:t>	T [i] := T [i] + 1</a:t>
            </a:r>
            <a:br>
              <a:rPr lang="en-US"/>
            </a:br>
            <a:r>
              <a:rPr lang="en-US"/>
              <a:t>end on</a:t>
            </a:r>
          </a:p>
          <a:p>
            <a:pPr marL="0" indent="0">
              <a:buNone/>
            </a:pPr>
            <a:r>
              <a:rPr lang="en-US"/>
              <a:t>on request to send message m at node Ni do</a:t>
            </a:r>
            <a:br>
              <a:rPr lang="en-US"/>
            </a:br>
            <a:r>
              <a:rPr lang="en-US"/>
              <a:t>	T [i] := T [i] + 1; send (T, m) via network</a:t>
            </a:r>
            <a:br>
              <a:rPr lang="en-US"/>
            </a:br>
            <a:r>
              <a:rPr lang="en-US"/>
              <a:t>end on</a:t>
            </a:r>
          </a:p>
          <a:p>
            <a:pPr marL="0" indent="0">
              <a:buNone/>
            </a:pPr>
            <a:r>
              <a:rPr lang="en-US"/>
              <a:t>on receiving (T ′, m) at node Ni via the network do</a:t>
            </a:r>
          </a:p>
          <a:p>
            <a:pPr marL="0" indent="0">
              <a:buNone/>
            </a:pPr>
            <a:r>
              <a:rPr lang="en-US"/>
              <a:t>	T [j] := max(T [j], T ′[j]) for every j ∈ {1, . . . , n}</a:t>
            </a:r>
            <a:br>
              <a:rPr lang="en-US"/>
            </a:br>
            <a:r>
              <a:rPr lang="en-US"/>
              <a:t>	T [i] := T [i] + 1; deliver m to the application</a:t>
            </a:r>
            <a:br>
              <a:rPr lang="en-US"/>
            </a:br>
            <a:r>
              <a:rPr lang="en-US"/>
              <a:t>end 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19810-2B6C-DE1D-2726-288C50443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03268-4191-194D-0034-A72F6B09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627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54E1D-2FDB-927E-F2E0-714A7C82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clocks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89C1A-27EE-D56B-C243-7E3E2A81A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The vector timestamp of an event e represents a set of events, e and its causal dependencies: {e} ∪ {a | a → e}</a:t>
            </a:r>
          </a:p>
          <a:p>
            <a:r>
              <a:rPr lang="en-US"/>
              <a:t>For example, 〈2, 2, 0〉 represents the first two events from A, the first two events from B, and no events from C.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79A7E0-4F8C-4E79-B579-0313FB7F8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D3218-FBB2-5D9A-EC26-83170BC6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46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BAEAF-6C78-12BA-A83F-9E50A53C5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64" y="1690689"/>
            <a:ext cx="7752586" cy="262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074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4C24-4EA6-0616-85E7-F55BC5447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clocks ordering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0BDCF9-100F-115D-E0C5-0C38D905F3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Define the following order on vector timestamps (in a system with n nodes):</a:t>
                </a:r>
              </a:p>
              <a:p>
                <a:pPr lvl="1"/>
                <a:r>
                  <a:rPr lang="en-US"/>
                  <a:t>T = T′ </a:t>
                </a:r>
                <a:r>
                  <a:rPr lang="en-US" err="1"/>
                  <a:t>iff</a:t>
                </a:r>
                <a:r>
                  <a:rPr lang="en-US"/>
                  <a:t> T [i] = T′[i] for all i ∈ {1, . . . , n}</a:t>
                </a:r>
              </a:p>
              <a:p>
                <a:pPr lvl="1"/>
                <a:r>
                  <a:rPr lang="en-US"/>
                  <a:t>T ≤ T′ </a:t>
                </a:r>
                <a:r>
                  <a:rPr lang="en-US" err="1"/>
                  <a:t>iff</a:t>
                </a:r>
                <a:r>
                  <a:rPr lang="en-US"/>
                  <a:t> T [i] ≤ T′[i] for all i ∈ {1, . . . , n}</a:t>
                </a:r>
              </a:p>
              <a:p>
                <a:pPr lvl="1"/>
                <a:r>
                  <a:rPr lang="en-US"/>
                  <a:t>T &lt; T′ </a:t>
                </a:r>
                <a:r>
                  <a:rPr lang="en-US" err="1"/>
                  <a:t>iff</a:t>
                </a:r>
                <a:r>
                  <a:rPr lang="en-US"/>
                  <a:t> T ≤ T′ and 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/>
                  <a:t> T′</a:t>
                </a:r>
              </a:p>
              <a:p>
                <a:pPr lvl="1"/>
                <a:r>
                  <a:rPr lang="en-US"/>
                  <a:t>T ‖ T′ </a:t>
                </a:r>
                <a:r>
                  <a:rPr lang="en-US" err="1"/>
                  <a:t>iff</a:t>
                </a:r>
                <a:r>
                  <a:rPr lang="en-US"/>
                  <a:t> T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≰</m:t>
                    </m:r>
                  </m:oMath>
                </a14:m>
                <a:r>
                  <a:rPr lang="en-US"/>
                  <a:t> T′ and T′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≰</m:t>
                    </m:r>
                  </m:oMath>
                </a14:m>
                <a:r>
                  <a:rPr lang="en-US"/>
                  <a:t> T</a:t>
                </a:r>
              </a:p>
              <a:p>
                <a:r>
                  <a:rPr lang="en-US"/>
                  <a:t>V (a) ≤ V (b) </a:t>
                </a:r>
                <a:r>
                  <a:rPr lang="en-US" err="1"/>
                  <a:t>iff</a:t>
                </a:r>
                <a:r>
                  <a:rPr lang="en-US"/>
                  <a:t> ({a} ∪ {e | e → a}) ⊆ ({b} ∪ {e | e → b})</a:t>
                </a:r>
              </a:p>
              <a:p>
                <a:r>
                  <a:rPr lang="en-US"/>
                  <a:t>Properties of this order:</a:t>
                </a:r>
              </a:p>
              <a:p>
                <a:pPr lvl="1"/>
                <a:r>
                  <a:rPr lang="en-US"/>
                  <a:t>(V (a) &lt; V (b)) ⇐⇒ (a → b)</a:t>
                </a:r>
              </a:p>
              <a:p>
                <a:pPr lvl="1"/>
                <a:r>
                  <a:rPr lang="en-US"/>
                  <a:t>(V (a) = V (b)) ⇐⇒ (a = b)</a:t>
                </a:r>
              </a:p>
              <a:p>
                <a:pPr lvl="1"/>
                <a:r>
                  <a:rPr lang="en-US"/>
                  <a:t>(V (a) ‖ V (b)) ⇐⇒ (a ‖ b)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0BDCF9-100F-115D-E0C5-0C38D905F3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19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8E224E-C094-0B8D-B546-970A0F657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0BE1D-9038-BBF5-5DC1-2429BFA4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212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19D51-785D-7403-A330-3F3451877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0A15-C904-8062-474B-5991A709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222D1-D3BE-C25F-E749-8E5994F02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Show the vector clocks at each send or receive event..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B5F20-1B21-4CEC-1972-2F75D305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Parallel and Distributed Computing – Spring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05155-D77C-0635-41B5-FCB43B022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31FB-25C6-4CFC-893E-218B97522830}" type="slidenum">
              <a:rPr lang="en-US" smtClean="0"/>
              <a:t>48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31C1E9-934A-43C4-1127-5902355DC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786" y="2467550"/>
            <a:ext cx="4858428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12060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On-screen Show (4:3)</PresentationFormat>
  <Slides>48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Retrospect</vt:lpstr>
      <vt:lpstr>Lecture # 10  </vt:lpstr>
      <vt:lpstr>Attribution</vt:lpstr>
      <vt:lpstr>Agenda</vt:lpstr>
      <vt:lpstr>A distributed system is. . .</vt:lpstr>
      <vt:lpstr>Why make a system distributed?</vt:lpstr>
      <vt:lpstr>Why NOT make a system distributed?</vt:lpstr>
      <vt:lpstr>Distributed Systems and Computer Networking</vt:lpstr>
      <vt:lpstr>Latency and Bandwidth</vt:lpstr>
      <vt:lpstr>Client-server example: the web</vt:lpstr>
      <vt:lpstr>Client-server example: online payments</vt:lpstr>
      <vt:lpstr>Remote Procedure Call (RPC) example</vt:lpstr>
      <vt:lpstr>PowerPoint Presentation</vt:lpstr>
      <vt:lpstr>Remote Procedure Call (RPC)</vt:lpstr>
      <vt:lpstr>RPC history</vt:lpstr>
      <vt:lpstr>RPC in enterprise systems</vt:lpstr>
      <vt:lpstr>gRPC IDL example</vt:lpstr>
      <vt:lpstr>The two generals problem</vt:lpstr>
      <vt:lpstr>The two generals problem</vt:lpstr>
      <vt:lpstr>How should the generals decide?</vt:lpstr>
      <vt:lpstr>The two generals problem applied</vt:lpstr>
      <vt:lpstr>The Byzantine generals problem</vt:lpstr>
      <vt:lpstr>Generals that might lie</vt:lpstr>
      <vt:lpstr>The Byzantine generals problem</vt:lpstr>
      <vt:lpstr>Trust relationships and malicious behaviour</vt:lpstr>
      <vt:lpstr>System models</vt:lpstr>
      <vt:lpstr>Networks are unreliable</vt:lpstr>
      <vt:lpstr>System model: network behaviour</vt:lpstr>
      <vt:lpstr>System model: node behaviour</vt:lpstr>
      <vt:lpstr>System model: synchrony (timing) assumptions</vt:lpstr>
      <vt:lpstr>Violations of synchrony in practice</vt:lpstr>
      <vt:lpstr>System models summary</vt:lpstr>
      <vt:lpstr>Attribution</vt:lpstr>
      <vt:lpstr>Agenda</vt:lpstr>
      <vt:lpstr>A Detective Story</vt:lpstr>
      <vt:lpstr>Logical vs. physical clocks </vt:lpstr>
      <vt:lpstr>Types of Physical Clocks</vt:lpstr>
      <vt:lpstr>UTC &amp; The Leap Second Problem</vt:lpstr>
      <vt:lpstr>Lamport clocks algorithm</vt:lpstr>
      <vt:lpstr>Lamport clocks in words</vt:lpstr>
      <vt:lpstr>The Happens-Before Relation</vt:lpstr>
      <vt:lpstr>Lamport clocks example</vt:lpstr>
      <vt:lpstr>Exercise</vt:lpstr>
      <vt:lpstr>Question</vt:lpstr>
      <vt:lpstr>Vector Clocks</vt:lpstr>
      <vt:lpstr>Vector Clocks</vt:lpstr>
      <vt:lpstr>Vector clocks example</vt:lpstr>
      <vt:lpstr>Vector clocks ordering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Muhammad Adil Saleem / PhD Scholar</dc:creator>
  <cp:revision>1</cp:revision>
  <dcterms:created xsi:type="dcterms:W3CDTF">2022-08-15T03:57:02Z</dcterms:created>
  <dcterms:modified xsi:type="dcterms:W3CDTF">2026-04-23T02:40:11Z</dcterms:modified>
</cp:coreProperties>
</file>